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27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63" r:id="rId9"/>
    <p:sldId id="278" r:id="rId24"/>
    <p:sldId id="272" r:id="rId18"/>
    <p:sldId id="277" r:id="rId23"/>
    <p:sldId id="262" r:id="rId8"/>
    <p:sldId id="268" r:id="rId14"/>
    <p:sldId id="259" r:id="rId5"/>
    <p:sldId id="258" r:id="rId4"/>
    <p:sldId id="282" r:id="rId33"/>
    <p:sldId id="261" r:id="rId7"/>
    <p:sldId id="264" r:id="rId10"/>
    <p:sldId id="283" r:id="rId34"/>
    <p:sldId id="274" r:id="rId20"/>
    <p:sldId id="260" r:id="rId6"/>
    <p:sldId id="284" r:id="rId35"/>
    <p:sldId id="269" r:id="rId15"/>
    <p:sldId id="266" r:id="rId12"/>
    <p:sldId id="279" r:id="rId25"/>
    <p:sldId id="285" r:id="rId36"/>
    <p:sldId id="286" r:id="rId37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8" Type="http://schemas.openxmlformats.org/officeDocument/2006/relationships/slide" Target="slides/slide17.xml"/><Relationship Id="rId20" Type="http://schemas.openxmlformats.org/officeDocument/2006/relationships/slide" Target="slides/slide19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 — помощник к MultiReestr: как найти извещение и проверить его до аудита.</a:t>
            </a:r>
          </a:p>
          <a:p>
            <a:r>
              <a:rPr lang="ru-RU" dirty="0"/>
              <a:t>Это занятие 1 из 2: продукт и смысл. Код и Jmix — в следующий раз.</a:t>
            </a:r>
          </a:p>
          <a:p>
            <a:r>
              <a:rPr lang="ru-RU" dirty="0"/>
              <a:t>Тайминг ≈ 3 ч: постановка 25 · правила 20 · демо 50 · перерыв 15 · устройство 15 · агент 25 · материалы/Docker 15 · вопросы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Пройтись по шести пунктам без деталей.</a:t>
            </a:r>
          </a:p>
          <a:p>
            <a:r>
              <a:rPr lang="ru-RU" dirty="0"/>
              <a:t>Сказать, где перерыв — после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Переходим на живой стенд.</a:t>
            </a:r>
          </a:p>
          <a:p>
            <a:r>
              <a:rPr lang="ru-RU" dirty="0"/>
              <a:t>Учебный баннер — нормально, это учебная среда.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Прогон по выбранным извещениям или периоду → список срабатываний → разбираем.</a:t>
            </a:r>
          </a:p>
          <a:p>
            <a:r>
              <a:rPr lang="ru-RU" dirty="0"/>
              <a:t>Пробный прогон: сначала смотрим результат, потом решаем, что фиксировать.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Задача → план → ваше «ок» → сделать → проверить глазами на экране → правки.</a:t>
            </a:r>
          </a:p>
          <a:p>
            <a:r>
              <a:rPr lang="ru-RU" dirty="0"/>
              <a:t>Не «напиши всё приложение в одном сообщении».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Нашли → задали критерий → прогнали → увидели результат. Это смысл помощника.</a:t>
            </a:r>
          </a:p>
          <a:p>
            <a:r>
              <a:rPr lang="ru-RU" dirty="0"/>
              <a:t>После этого слайда — перерыв.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Первое — найти и открыть. Второе — задать правило и прогнать проверку.</a:t>
            </a:r>
          </a:p>
          <a:p>
            <a:r>
              <a:rPr lang="ru-RU" dirty="0"/>
              <a:t>Сегодня второй пункт — главный.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ЕИС публикуют извещения. Их можно выгрузить к себе.</a:t>
            </a:r>
          </a:p>
          <a:p>
            <a:r>
              <a:rPr lang="ru-RU" dirty="0"/>
              <a:t>MultiReestr — локальная работа с этой выгрузкой, без постоянного лазания в ЕИС.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MultiReestr хранит выгрузку. Наше приложение её читает и хранит своё: правила и результаты проверок.</a:t>
            </a:r>
          </a:p>
          <a:p>
            <a:r>
              <a:rPr lang="ru-RU" dirty="0"/>
              <a:t>В MultiReestr ничего не ломаем.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Коротко и без стыда: слишком длинный план упростили; с Docker уточняли «куда смотреть с этого компьютера»; переименование задело упаковку — MultiReestr не трогали.</a:t>
            </a:r>
          </a:p>
          <a:p>
            <a:r>
              <a:rPr lang="ru-RU" dirty="0"/>
              <a:t>Вывод: честные границы задачи.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Правило — ваш критерий: что считать проблемой. Срок, обязательное поле, своя логика.</a:t>
            </a:r>
          </a:p>
          <a:p>
            <a:r>
              <a:rPr lang="ru-RU" dirty="0"/>
              <a:t>Не магия системы — ваши договорённости. Правила можно включать и выключать.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Сначала договорились, что проверяем. Потом план → сделали → прогон на учебных данных → уточнили формулировку.</a:t>
            </a:r>
          </a:p>
          <a:p>
            <a:r>
              <a:rPr lang="ru-RU" dirty="0"/>
              <a:t>Без живого прогона правило «на бумаге» не проверить.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3–5 бытовых примеров «как на проверке»: сроки, пустые поля, несостыковки редакций.</a:t>
            </a:r>
          </a:p>
          <a:p>
            <a:r>
              <a:rPr lang="ru-RU" dirty="0"/>
              <a:t>Не юридический трактат.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Ты — постановка и «принято / не принято». Агент — план и черновики.</a:t>
            </a:r>
          </a:p>
          <a:p>
            <a:r>
              <a:rPr lang="ru-RU" dirty="0"/>
              <a:t>Как бригадир и помощник.</a:t>
            </a:r>
          </a:p>
          <a:p>
            <a:r>
              <a:rPr lang="ru-RU" dirty="0"/>
              <a:t>Лекцию про нейросети не повторять — только наш кейс с агентом.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Замечания, переделки, риски для подразделения.</a:t>
            </a:r>
          </a:p>
          <a:p>
            <a:r>
              <a:rPr lang="ru-RU" dirty="0"/>
              <a:t>Вывод: нужен помощник, который подсветит проблемы заранее.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Извещение — объявление о закупке: номер, даты, объект, заказчик.</a:t>
            </a:r>
          </a:p>
          <a:p>
            <a:r>
              <a:rPr lang="ru-RU" dirty="0"/>
              <a:t>Бывают редакции — исправления одной и той же закупки.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Zip: преамбулы и тексты для общего понимания.</a:t>
            </a:r>
          </a:p>
          <a:p>
            <a:r>
              <a:rPr lang="ru-RU" dirty="0"/>
              <a:t>Полный разбор «как внутри» — занятие 2 / для желающих.</a:t>
            </a:r>
          </a:p>
          <a:p>
            <a:r>
              <a:rPr lang="ru-RU" dirty="0"/>
              <a:t>Ссылку на zip вставить, когда будет готова.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Открытый микрофон.</a:t>
            </a:r>
          </a:p>
          <a:p>
            <a:r>
              <a:rPr lang="ru-RU" dirty="0"/>
              <a:t>Если тихо — вопрос в зал: «Какое правило вы бы задали первым на своей работе?»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Держать этот слайд и работать в UI:</a:t>
            </a:r>
          </a:p>
          <a:p>
            <a:r>
              <a:rPr lang="ru-RU" dirty="0"/>
              <a:t>A. Найти извещение (кусочек номера / даты) → карточка, редакции.</a:t>
            </a:r>
          </a:p>
          <a:p>
            <a:r>
              <a:rPr lang="ru-RU" dirty="0"/>
              <a:t>B. Правила: что есть / создать простое.</a:t>
            </a:r>
          </a:p>
          <a:p>
            <a:r>
              <a:rPr lang="ru-RU" dirty="0"/>
              <a:t>C. Запустить проверку → срабатывания.</a:t>
            </a:r>
          </a:p>
          <a:p>
            <a:r>
              <a:rPr lang="ru-RU" dirty="0"/>
              <a:t>D. Одно срабатывание: понятно ли почему.</a:t>
            </a:r>
          </a:p>
          <a:p>
            <a:r>
              <a:rPr lang="ru-RU" dirty="0"/>
              <a:t>Центр — B–D. Говорить медленно.</a:t>
            </a:r>
          </a:p>
          <a:p>
            <a:r>
              <a:rPr lang="ru-RU" dirty="0"/>
              <a:t>Если Docker тупит: заранее 3–5 мин скринкаст + всё равно показать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Сейчас 44‑ФЗ. Данные в MultiReestr грузите вы.</a:t>
            </a:r>
          </a:p>
          <a:p>
            <a:r>
              <a:rPr lang="ru-RU" dirty="0"/>
              <a:t>Помощник подсвечивает, эксперта не заменяет.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плане выглядело нормально, на экране — неудобно. Пример: поиск.</a:t>
            </a:r>
          </a:p>
          <a:p>
            <a:r>
              <a:rPr lang="ru-RU" dirty="0"/>
              <a:t>Пока глазами не увидишь — не поймёшь, что удобно. Это улучшения итерациями, не провал.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Лучше поставить Docker Desktop заранее.</a:t>
            </a:r>
          </a:p>
          <a:p>
            <a:r>
              <a:rPr lang="ru-RU" dirty="0"/>
              <a:t>На занятии или дома: скачать образы → загрузить → запустить → браузер → войти. Детали — в инструкции в zip.</a:t>
            </a:r>
          </a:p>
          <a:p>
            <a:r>
              <a:rPr lang="ru-RU" dirty="0"/>
              <a:t>Ссылку на контейнер вставить, когда будет готова.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Зачем помощник; видели поиск и цикл правил/проверки; поняли итерации с агентом; можете поднять стенд.</a:t>
            </a:r>
          </a:p>
          <a:p>
            <a:r>
              <a:rPr lang="ru-RU" dirty="0"/>
              <a:t>Занятие 2 — Jmix своими руками. В IDE и Jmix сегодня не уходим.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0" y="1828800"/>
            <a:ext cx="85313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2857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Занятие 1 из 2 · практическое занятие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7259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 к MultiReestr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 rot="10800000">
            <a:off x="5464454" y="3813956"/>
            <a:ext cx="1281989" cy="585228"/>
          </a:xfrm>
          <a:custGeom>
            <a:avLst/>
            <a:gdLst/>
            <a:ahLst/>
            <a:cxnLst/>
            <a:rect l="l" t="t" r="r" b="b"/>
            <a:pathLst>
              <a:path w="1281989" h="585228">
                <a:moveTo>
                  <a:pt x="1281989" y="585228"/>
                </a:moveTo>
                <a:lnTo>
                  <a:pt x="1090203" y="585228"/>
                </a:lnTo>
                <a:cubicBezTo>
                  <a:pt x="1061743" y="362607"/>
                  <a:pt x="871496" y="190550"/>
                  <a:pt x="640994" y="190550"/>
                </a:cubicBezTo>
                <a:cubicBezTo>
                  <a:pt x="410493" y="190550"/>
                  <a:pt x="220117" y="362666"/>
                  <a:pt x="191786" y="585228"/>
                </a:cubicBezTo>
                <a:lnTo>
                  <a:pt x="0" y="585228"/>
                </a:lnTo>
                <a:cubicBezTo>
                  <a:pt x="29229" y="257208"/>
                  <a:pt x="305113" y="0"/>
                  <a:pt x="640994" y="0"/>
                </a:cubicBezTo>
                <a:cubicBezTo>
                  <a:pt x="976875" y="0"/>
                  <a:pt x="1252759" y="257208"/>
                  <a:pt x="1281989" y="5852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5804566" y="3813956"/>
            <a:ext cx="601766" cy="248839"/>
          </a:xfrm>
          <a:custGeom>
            <a:avLst/>
            <a:gdLst/>
            <a:ahLst/>
            <a:cxnLst/>
            <a:rect l="l" t="t" r="r" b="b"/>
            <a:pathLst>
              <a:path w="601766" h="248839">
                <a:moveTo>
                  <a:pt x="601766" y="248839"/>
                </a:moveTo>
                <a:lnTo>
                  <a:pt x="0" y="248839"/>
                </a:lnTo>
                <a:cubicBezTo>
                  <a:pt x="27019" y="107100"/>
                  <a:pt x="151464" y="0"/>
                  <a:pt x="300883" y="0"/>
                </a:cubicBezTo>
                <a:cubicBezTo>
                  <a:pt x="450301" y="0"/>
                  <a:pt x="574746" y="107100"/>
                  <a:pt x="601766" y="248839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3816706"/>
            <a:ext cx="227594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54419" y="3816706"/>
            <a:ext cx="227594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0" name="Subtitle"/>
          <p:cNvSpPr/>
          <p:nvPr/>
        </p:nvSpPr>
        <p:spPr>
          <a:xfrm>
            <a:off x="1371600" y="457200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2857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Найти извещение и проверить его до аудита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836676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4" name="Shape 2"/>
          <p:cNvSpPr/>
          <p:nvPr/>
        </p:nvSpPr>
        <p:spPr>
          <a:xfrm rot="16200000">
            <a:off x="951969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5" name="Text 3"/>
          <p:cNvSpPr/>
          <p:nvPr/>
        </p:nvSpPr>
        <p:spPr>
          <a:xfrm>
            <a:off x="1168603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68603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A79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Занятие 1 · около 3 часов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План </a:t>
            </a:r>
            <a:r>
              <a:rPr lang="en-US" sz="4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занятия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Шесть блоков: от задачи до запуска помощника у себя дома.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143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897880" y="11430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Постановка задачи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37760" y="1837944"/>
            <a:ext cx="6355080" cy="0"/>
          </a:xfrm>
          <a:prstGeom prst="line">
            <a:avLst/>
          </a:prstGeom>
          <a:noFill/>
          <a:ln w="9525">
            <a:solidFill>
              <a:srgbClr val="D5DA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984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897880" y="19842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Правила и проверка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937760" y="2679192"/>
            <a:ext cx="6355080" cy="0"/>
          </a:xfrm>
          <a:prstGeom prst="line">
            <a:avLst/>
          </a:prstGeom>
          <a:noFill/>
          <a:ln w="9525">
            <a:solidFill>
              <a:srgbClr val="D5DA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8254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897880" y="282549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Живое демо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937760" y="3520440"/>
            <a:ext cx="6355080" cy="0"/>
          </a:xfrm>
          <a:prstGeom prst="line">
            <a:avLst/>
          </a:prstGeom>
          <a:noFill/>
          <a:ln w="9525">
            <a:solidFill>
              <a:srgbClr val="D5DA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66674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897880" y="366674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Как устроен помощник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937760" y="4361688"/>
            <a:ext cx="6355080" cy="0"/>
          </a:xfrm>
          <a:prstGeom prst="line">
            <a:avLst/>
          </a:prstGeom>
          <a:noFill/>
          <a:ln w="9525">
            <a:solidFill>
              <a:srgbClr val="D5DA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45079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897880" y="450799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Как делали с агентом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937760" y="5202936"/>
            <a:ext cx="6355080" cy="0"/>
          </a:xfrm>
          <a:prstGeom prst="line">
            <a:avLst/>
          </a:prstGeom>
          <a:noFill/>
          <a:ln w="9525">
            <a:solidFill>
              <a:srgbClr val="D5DA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5349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897880" y="53492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Материалы и Docker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836676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951969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4" name="Text 2"/>
          <p:cNvSpPr/>
          <p:nvPr/>
        </p:nvSpPr>
        <p:spPr>
          <a:xfrm>
            <a:off x="1168603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68603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1325880"/>
            <a:ext cx="12192000" cy="3429000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002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Демо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Живой стенд · учебный стенд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66666"/>
              </a:lnSpc>
              <a:buNone/>
            </a:pPr>
            <a:r>
              <a:rPr lang="en-US" sz="22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Сейчас на экране — приложение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836676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951969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4" name="Text 2"/>
          <p:cNvSpPr/>
          <p:nvPr/>
        </p:nvSpPr>
        <p:spPr>
          <a:xfrm>
            <a:off x="1168603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68603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A79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это работает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Что такое </a:t>
            </a:r>
            <a:r>
              <a:rPr lang="en-US" sz="38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проверка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325880" y="3364992"/>
            <a:ext cx="7989570" cy="0"/>
          </a:xfrm>
          <a:prstGeom prst="line">
            <a:avLst/>
          </a:prstGeom>
          <a:noFill/>
          <a:ln w="25400">
            <a:solidFill>
              <a:srgbClr val="00A79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953512"/>
            <a:ext cx="822960" cy="822960"/>
          </a:xfrm>
          <a:prstGeom prst="ellipse">
            <a:avLst/>
          </a:prstGeom>
          <a:solidFill>
            <a:srgbClr val="00A79D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53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2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Выберите извещения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Нужный период или список закупок.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77590" y="2953512"/>
            <a:ext cx="822960" cy="822960"/>
          </a:xfrm>
          <a:prstGeom prst="ellipse">
            <a:avLst/>
          </a:prstGeom>
          <a:solidFill>
            <a:srgbClr val="00A79D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7590" y="2953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77590" y="4023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2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Запустите проверку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77590" y="44805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Помощник прогоняет включённые правила.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0780" y="2953512"/>
            <a:ext cx="822960" cy="822960"/>
          </a:xfrm>
          <a:prstGeom prst="ellipse">
            <a:avLst/>
          </a:prstGeom>
          <a:solidFill>
            <a:srgbClr val="00A79D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0780" y="2953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40780" y="4023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2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Срабатывания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40780" y="44805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Смотрите, где и какое правило сработало.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03970" y="2953512"/>
            <a:ext cx="822960" cy="822960"/>
          </a:xfrm>
          <a:prstGeom prst="ellipse">
            <a:avLst/>
          </a:prstGeom>
          <a:solidFill>
            <a:srgbClr val="F44336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03970" y="2953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903970" y="4023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2000" b="1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Разберите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03970" y="44805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Ошибка или исключение? Исправить или отметить.</a:t>
            </a:r>
            <a:endParaRPr lang="en-US" sz="1200" dirty="0"/>
          </a:p>
        </p:txBody>
      </p:sp>
      <p:sp>
        <p:nvSpPr>
          <p:cNvPr id="270" name="Box 270"/>
          <p:cNvSpPr/>
          <p:nvPr/>
        </p:nvSpPr>
        <p:spPr>
          <a:xfrm>
            <a:off x="914400" y="5669280"/>
            <a:ext cx="10332720" cy="68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228600" rIns="228600" tIns="45720" bIns="45720" anchor="ctr">
            <a:noAutofit/>
          </a:bodyPr>
          <a:lstStyle/>
          <a:p>
            <a:pPr algn="l"/>
            <a:r>
              <a:rPr lang="ru-RU" sz="1800" b="1">
                <a:solidFill>
                  <a:srgbClr val="00A79D"/>
                </a:solidFill>
                <a:latin typeface="Roboto Condensed"/>
              </a:rPr>
              <a:t>Пробный прогон  </a:t>
            </a:r>
            <a:r>
              <a:rPr lang="ru-RU" sz="1700" b="0">
                <a:solidFill>
                  <a:srgbClr val="1E2A32"/>
                </a:solidFill>
                <a:latin typeface="PT Sans"/>
              </a:rPr>
              <a:t>сначала смотрим, что найдётся, — потом фиксируем правило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836676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4" name="Shape 2"/>
          <p:cNvSpPr/>
          <p:nvPr/>
        </p:nvSpPr>
        <p:spPr>
          <a:xfrm rot="16200000">
            <a:off x="951969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5" name="Text 3"/>
          <p:cNvSpPr/>
          <p:nvPr/>
        </p:nvSpPr>
        <p:spPr>
          <a:xfrm>
            <a:off x="1168603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68603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Цикл </a:t>
            </a:r>
            <a:r>
              <a:rPr lang="en-US" sz="38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работы с агентом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 «напиши всё сразу», а маленькими шагами. После правок — снова к задаче.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874520"/>
            <a:ext cx="3749040" cy="3749040"/>
          </a:xfrm>
          <a:prstGeom prst="ellipse">
            <a:avLst/>
          </a:prstGeom>
          <a:ln w="31750">
            <a:solidFill>
              <a:srgbClr val="00A79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360920" y="32918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Шаг</a:t>
            </a:r>
            <a:endParaRPr lang="en-US" sz="18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за шагом</a:t>
            </a:r>
            <a:endParaRPr lang="en-US" sz="1800" dirty="0"/>
          </a:p>
        </p:txBody>
      </p:sp>
      <p:sp>
        <p:nvSpPr>
          <p:cNvPr id="400" name="Box 400"/>
          <p:cNvSpPr/>
          <p:nvPr/>
        </p:nvSpPr>
        <p:spPr>
          <a:xfrm>
            <a:off x="7982712" y="1490472"/>
            <a:ext cx="768096" cy="768096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2200" b="1">
                <a:solidFill>
                  <a:srgbClr val="FFFFFF"/>
                </a:solidFill>
                <a:latin typeface="Roboto Condensed"/>
              </a:rPr>
              <a:t>1</a:t>
            </a:r>
          </a:p>
        </p:txBody>
      </p:sp>
      <p:sp>
        <p:nvSpPr>
          <p:cNvPr id="410" name="Box 410"/>
          <p:cNvSpPr/>
          <p:nvPr/>
        </p:nvSpPr>
        <p:spPr>
          <a:xfrm>
            <a:off x="7269480" y="10058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1800" b="1">
                <a:solidFill>
                  <a:srgbClr val="1E2A32"/>
                </a:solidFill>
                <a:latin typeface="Roboto Condensed"/>
              </a:rPr>
              <a:t>Задача</a:t>
            </a:r>
          </a:p>
        </p:txBody>
      </p:sp>
      <p:sp>
        <p:nvSpPr>
          <p:cNvPr id="401" name="Box 401"/>
          <p:cNvSpPr/>
          <p:nvPr/>
        </p:nvSpPr>
        <p:spPr>
          <a:xfrm>
            <a:off x="9606094" y="2427732"/>
            <a:ext cx="768096" cy="768096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2200" b="1">
                <a:solidFill>
                  <a:srgbClr val="FFFFFF"/>
                </a:solidFill>
                <a:latin typeface="Roboto Condensed"/>
              </a:rPr>
              <a:t>2</a:t>
            </a:r>
          </a:p>
        </p:txBody>
      </p:sp>
      <p:sp>
        <p:nvSpPr>
          <p:cNvPr id="411" name="Box 411"/>
          <p:cNvSpPr/>
          <p:nvPr/>
        </p:nvSpPr>
        <p:spPr>
          <a:xfrm>
            <a:off x="10465630" y="25831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1800" b="1">
                <a:solidFill>
                  <a:srgbClr val="1E2A32"/>
                </a:solidFill>
                <a:latin typeface="Roboto Condensed"/>
              </a:rPr>
              <a:t>План</a:t>
            </a:r>
          </a:p>
        </p:txBody>
      </p:sp>
      <p:sp>
        <p:nvSpPr>
          <p:cNvPr id="402" name="Box 402"/>
          <p:cNvSpPr/>
          <p:nvPr/>
        </p:nvSpPr>
        <p:spPr>
          <a:xfrm>
            <a:off x="9606094" y="4302252"/>
            <a:ext cx="768096" cy="768096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2200" b="1">
                <a:solidFill>
                  <a:srgbClr val="FFFFFF"/>
                </a:solidFill>
                <a:latin typeface="Roboto Condensed"/>
              </a:rPr>
              <a:t>3</a:t>
            </a:r>
          </a:p>
        </p:txBody>
      </p:sp>
      <p:sp>
        <p:nvSpPr>
          <p:cNvPr id="412" name="Box 412"/>
          <p:cNvSpPr/>
          <p:nvPr/>
        </p:nvSpPr>
        <p:spPr>
          <a:xfrm>
            <a:off x="10465630" y="44577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1800" b="1">
                <a:solidFill>
                  <a:srgbClr val="1E2A32"/>
                </a:solidFill>
                <a:latin typeface="Roboto Condensed"/>
              </a:rPr>
              <a:t>Ваше «ок»</a:t>
            </a:r>
          </a:p>
        </p:txBody>
      </p:sp>
      <p:sp>
        <p:nvSpPr>
          <p:cNvPr id="403" name="Box 403"/>
          <p:cNvSpPr/>
          <p:nvPr/>
        </p:nvSpPr>
        <p:spPr>
          <a:xfrm>
            <a:off x="7982712" y="5239512"/>
            <a:ext cx="768096" cy="768096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2200" b="1">
                <a:solidFill>
                  <a:srgbClr val="FFFFFF"/>
                </a:solidFill>
                <a:latin typeface="Roboto Condensed"/>
              </a:rPr>
              <a:t>4</a:t>
            </a:r>
          </a:p>
        </p:txBody>
      </p:sp>
      <p:sp>
        <p:nvSpPr>
          <p:cNvPr id="413" name="Box 413"/>
          <p:cNvSpPr/>
          <p:nvPr/>
        </p:nvSpPr>
        <p:spPr>
          <a:xfrm>
            <a:off x="7269480" y="60807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1800" b="1">
                <a:solidFill>
                  <a:srgbClr val="1E2A32"/>
                </a:solidFill>
                <a:latin typeface="Roboto Condensed"/>
              </a:rPr>
              <a:t>Сделать</a:t>
            </a:r>
          </a:p>
        </p:txBody>
      </p:sp>
      <p:sp>
        <p:nvSpPr>
          <p:cNvPr id="404" name="Box 404"/>
          <p:cNvSpPr/>
          <p:nvPr/>
        </p:nvSpPr>
        <p:spPr>
          <a:xfrm>
            <a:off x="6359330" y="4302252"/>
            <a:ext cx="768096" cy="768096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2200" b="1">
                <a:solidFill>
                  <a:srgbClr val="FFFFFF"/>
                </a:solidFill>
                <a:latin typeface="Roboto Condensed"/>
              </a:rPr>
              <a:t>5</a:t>
            </a:r>
          </a:p>
        </p:txBody>
      </p:sp>
      <p:sp>
        <p:nvSpPr>
          <p:cNvPr id="414" name="Box 414"/>
          <p:cNvSpPr/>
          <p:nvPr/>
        </p:nvSpPr>
        <p:spPr>
          <a:xfrm>
            <a:off x="4530530" y="422910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r"/>
            <a:r>
              <a:rPr lang="ru-RU" sz="1800" b="1">
                <a:solidFill>
                  <a:srgbClr val="1E2A32"/>
                </a:solidFill>
                <a:latin typeface="Roboto Condensed"/>
              </a:rPr>
              <a:t>Проверить на экране</a:t>
            </a:r>
          </a:p>
        </p:txBody>
      </p:sp>
      <p:sp>
        <p:nvSpPr>
          <p:cNvPr id="405" name="Box 405"/>
          <p:cNvSpPr/>
          <p:nvPr/>
        </p:nvSpPr>
        <p:spPr>
          <a:xfrm>
            <a:off x="6359330" y="2427732"/>
            <a:ext cx="768096" cy="768096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2200" b="1">
                <a:solidFill>
                  <a:srgbClr val="FFFFFF"/>
                </a:solidFill>
                <a:latin typeface="Roboto Condensed"/>
              </a:rPr>
              <a:t>6</a:t>
            </a:r>
          </a:p>
        </p:txBody>
      </p:sp>
      <p:sp>
        <p:nvSpPr>
          <p:cNvPr id="415" name="Box 415"/>
          <p:cNvSpPr/>
          <p:nvPr/>
        </p:nvSpPr>
        <p:spPr>
          <a:xfrm>
            <a:off x="4530530" y="25831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r"/>
            <a:r>
              <a:rPr lang="ru-RU" sz="1800" b="1">
                <a:solidFill>
                  <a:srgbClr val="1E2A32"/>
                </a:solidFill>
                <a:latin typeface="Roboto Condensed"/>
              </a:rPr>
              <a:t>Правки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836676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951969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4" name="Text 2"/>
          <p:cNvSpPr/>
          <p:nvPr/>
        </p:nvSpPr>
        <p:spPr>
          <a:xfrm>
            <a:off x="1168603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68603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A79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 демо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Что мы </a:t>
            </a:r>
            <a:r>
              <a:rPr lang="en-US" sz="4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сделали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Полный круг за одно демо: от поиска до результата.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97880" y="1188720"/>
            <a:ext cx="5394960" cy="49377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600200"/>
            <a:ext cx="548640" cy="548640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1783080"/>
            <a:ext cx="274320" cy="192024"/>
          </a:xfrm>
          <a:custGeom>
            <a:avLst/>
            <a:gdLst/>
            <a:ahLst/>
            <a:cxnLst/>
            <a:rect l="l" t="t" r="r" b="b"/>
            <a:pathLst>
              <a:path w="228600" h="159563">
                <a:moveTo>
                  <a:pt x="0" y="43082"/>
                </a:moveTo>
                <a:lnTo>
                  <a:pt x="70866" y="111694"/>
                </a:lnTo>
                <a:lnTo>
                  <a:pt x="212598" y="0"/>
                </a:lnTo>
                <a:lnTo>
                  <a:pt x="228600" y="19148"/>
                </a:lnTo>
                <a:lnTo>
                  <a:pt x="75438" y="151585"/>
                </a:lnTo>
                <a:lnTo>
                  <a:pt x="0" y="8297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0" y="1554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Нашли извещение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2514600"/>
            <a:ext cx="548640" cy="548640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697480"/>
            <a:ext cx="274320" cy="192024"/>
          </a:xfrm>
          <a:custGeom>
            <a:avLst/>
            <a:gdLst/>
            <a:ahLst/>
            <a:cxnLst/>
            <a:rect l="l" t="t" r="r" b="b"/>
            <a:pathLst>
              <a:path w="228600" h="159563">
                <a:moveTo>
                  <a:pt x="0" y="43082"/>
                </a:moveTo>
                <a:lnTo>
                  <a:pt x="70866" y="111694"/>
                </a:lnTo>
                <a:lnTo>
                  <a:pt x="212598" y="0"/>
                </a:lnTo>
                <a:lnTo>
                  <a:pt x="228600" y="19148"/>
                </a:lnTo>
                <a:lnTo>
                  <a:pt x="75438" y="151585"/>
                </a:lnTo>
                <a:lnTo>
                  <a:pt x="0" y="8297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2468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Задали правило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48640" cy="548640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3611880"/>
            <a:ext cx="274320" cy="192024"/>
          </a:xfrm>
          <a:custGeom>
            <a:avLst/>
            <a:gdLst/>
            <a:ahLst/>
            <a:cxnLst/>
            <a:rect l="l" t="t" r="r" b="b"/>
            <a:pathLst>
              <a:path w="228600" h="159563">
                <a:moveTo>
                  <a:pt x="0" y="43082"/>
                </a:moveTo>
                <a:lnTo>
                  <a:pt x="70866" y="111694"/>
                </a:lnTo>
                <a:lnTo>
                  <a:pt x="212598" y="0"/>
                </a:lnTo>
                <a:lnTo>
                  <a:pt x="228600" y="19148"/>
                </a:lnTo>
                <a:lnTo>
                  <a:pt x="75438" y="151585"/>
                </a:lnTo>
                <a:lnTo>
                  <a:pt x="0" y="8297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3383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Прогнали проверку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4343400"/>
            <a:ext cx="548640" cy="548640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526280"/>
            <a:ext cx="274320" cy="192024"/>
          </a:xfrm>
          <a:custGeom>
            <a:avLst/>
            <a:gdLst/>
            <a:ahLst/>
            <a:cxnLst/>
            <a:rect l="l" t="t" r="r" b="b"/>
            <a:pathLst>
              <a:path w="228600" h="159563">
                <a:moveTo>
                  <a:pt x="0" y="43082"/>
                </a:moveTo>
                <a:lnTo>
                  <a:pt x="70866" y="111694"/>
                </a:lnTo>
                <a:lnTo>
                  <a:pt x="212598" y="0"/>
                </a:lnTo>
                <a:lnTo>
                  <a:pt x="228600" y="19148"/>
                </a:lnTo>
                <a:lnTo>
                  <a:pt x="75438" y="151585"/>
                </a:lnTo>
                <a:lnTo>
                  <a:pt x="0" y="8297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42976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Увидели результат</a:t>
            </a:r>
            <a:endParaRPr lang="en-US" sz="1600" dirty="0"/>
          </a:p>
        </p:txBody>
      </p:sp>
      <p:sp>
        <p:nvSpPr>
          <p:cNvPr id="290" name="Box 290"/>
          <p:cNvSpPr/>
          <p:nvPr/>
        </p:nvSpPr>
        <p:spPr>
          <a:xfrm>
            <a:off x="6263640" y="5166360"/>
            <a:ext cx="4663440" cy="27432"/>
          </a:xfrm>
          <a:prstGeom prst="rect">
            <a:avLst/>
          </a:prstGeom>
          <a:solidFill>
            <a:srgbClr val="D5DADC"/>
          </a:solidFill>
          <a:ln>
            <a:noFill/>
          </a:ln>
        </p:spPr>
        <p:txBody>
          <a:bodyPr wrap="square" lIns="109728" rIns="109728" tIns="45720" bIns="45720" anchor="t">
            <a:noAutofit/>
          </a:bodyPr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6263640" y="5349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79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 и есть смысл помощника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836676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951969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4" name="Text 2"/>
          <p:cNvSpPr/>
          <p:nvPr/>
        </p:nvSpPr>
        <p:spPr>
          <a:xfrm>
            <a:off x="1168603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68603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Два навыка </a:t>
            </a:r>
            <a:r>
              <a:rPr lang="en-US" sz="38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помощника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0" y="2514600"/>
            <a:ext cx="12192000" cy="548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880360"/>
            <a:ext cx="73152" cy="502920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880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24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 · Найти и открыть извещение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161288" y="3813048"/>
            <a:ext cx="118872" cy="118872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65760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Найти нужную закупку в выгрузке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161288" y="4453128"/>
            <a:ext cx="118872" cy="118872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429768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Открыть извещение и его редакции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161288" y="5093208"/>
            <a:ext cx="118872" cy="118872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493776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Без ручного поиска по файлам</a:t>
            </a:r>
            <a:endParaRPr lang="en-US" sz="1700" dirty="0"/>
          </a:p>
        </p:txBody>
      </p:sp>
      <p:sp>
        <p:nvSpPr>
          <p:cNvPr id="250" name="Box 250"/>
          <p:cNvSpPr/>
          <p:nvPr/>
        </p:nvSpPr>
        <p:spPr>
          <a:xfrm>
            <a:off x="6172200" y="2697480"/>
            <a:ext cx="5440680" cy="3154680"/>
          </a:xfrm>
          <a:prstGeom prst="rect">
            <a:avLst/>
          </a:prstGeom>
          <a:solidFill>
            <a:srgbClr val="E6F6F5"/>
          </a:solidFill>
          <a:ln>
            <a:noFill/>
          </a:ln>
        </p:spPr>
        <p:txBody>
          <a:bodyPr wrap="square" lIns="109728" rIns="109728" tIns="45720" bIns="45720" anchor="t">
            <a:noAutofit/>
          </a:bodyPr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6400800" y="2880360"/>
            <a:ext cx="73152" cy="502920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880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24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 · Задать правило и проверить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647688" y="3813048"/>
            <a:ext cx="118872" cy="118872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365760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Описать, что считать проблемой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647688" y="4453128"/>
            <a:ext cx="118872" cy="118872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429768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Прогнать проверку по извещениям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647688" y="5093208"/>
            <a:ext cx="118872" cy="118872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493776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Разобрать, что нашлось</a:t>
            </a:r>
            <a:endParaRPr lang="en-US" sz="1700" dirty="0"/>
          </a:p>
        </p:txBody>
      </p:sp>
      <p:sp>
        <p:nvSpPr>
          <p:cNvPr id="251" name="Box 251"/>
          <p:cNvSpPr/>
          <p:nvPr/>
        </p:nvSpPr>
        <p:spPr>
          <a:xfrm>
            <a:off x="9098280" y="2395728"/>
            <a:ext cx="2286000" cy="45720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txBody>
          <a:bodyPr wrap="square" lIns="109728" rIns="109728" tIns="45720" bIns="45720" anchor="ctr">
            <a:noAutofit/>
          </a:bodyPr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Roboto Condensed"/>
              </a:rPr>
              <a:t>Фокус сегодня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2594" y="0"/>
            <a:ext cx="4699102" cy="6858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1" name="Diag 101"/>
          <p:cNvSpPr/>
          <p:nvPr/>
        </p:nvSpPr>
        <p:spPr>
          <a:xfrm>
            <a:off x="8202168" y="1051560"/>
            <a:ext cx="32918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 anchor="ctr">
            <a:noAutofit/>
          </a:bodyPr>
          <a:lstStyle/>
          <a:p>
            <a:pPr algn="ctr"/>
            <a:r>
              <a:rPr lang="ru-RU" sz="2600" b="1">
                <a:solidFill>
                  <a:srgbClr val="1E2A32"/>
                </a:solidFill>
                <a:latin typeface="Roboto Condensed"/>
              </a:rPr>
              <a:t>ЕИС</a:t>
            </a:r>
          </a:p>
          <a:p>
            <a:pPr algn="ctr"/>
            <a:r>
              <a:rPr lang="ru-RU" sz="1500">
                <a:solidFill>
                  <a:srgbClr val="55616B"/>
                </a:solidFill>
                <a:latin typeface="PT Sans"/>
              </a:rPr>
              <a:t>заказчик публикует извещение</a:t>
            </a:r>
          </a:p>
        </p:txBody>
      </p:sp>
      <p:sp>
        <p:nvSpPr>
          <p:cNvPr id="102" name="Diag 102"/>
          <p:cNvSpPr/>
          <p:nvPr/>
        </p:nvSpPr>
        <p:spPr>
          <a:xfrm>
            <a:off x="9619488" y="2395728"/>
            <a:ext cx="457200" cy="457200"/>
          </a:xfrm>
          <a:prstGeom prst="downArrow">
            <a:avLst/>
          </a:prstGeom>
          <a:solidFill>
            <a:srgbClr val="00A79D"/>
          </a:solidFill>
          <a:ln>
            <a:noFill/>
          </a:ln>
        </p:spPr>
        <p:txBody>
          <a:bodyPr wrap="square" lIns="91440" rIns="91440" tIns="45720" bIns="45720" anchor="ctr">
            <a:noAutofit/>
          </a:bodyPr>
          <a:lstStyle/>
          <a:p>
            <a:endParaRPr lang="ru-RU"/>
          </a:p>
        </p:txBody>
      </p:sp>
      <p:sp>
        <p:nvSpPr>
          <p:cNvPr id="103" name="Diag 103"/>
          <p:cNvSpPr/>
          <p:nvPr/>
        </p:nvSpPr>
        <p:spPr>
          <a:xfrm>
            <a:off x="8202168" y="2971800"/>
            <a:ext cx="32918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 anchor="ctr">
            <a:noAutofit/>
          </a:bodyPr>
          <a:lstStyle/>
          <a:p>
            <a:pPr algn="ctr"/>
            <a:r>
              <a:rPr lang="ru-RU" sz="2600" b="1">
                <a:solidFill>
                  <a:srgbClr val="1E2A32"/>
                </a:solidFill>
                <a:latin typeface="Roboto Condensed"/>
              </a:rPr>
              <a:t>Выгрузка</a:t>
            </a:r>
          </a:p>
          <a:p>
            <a:pPr algn="ctr"/>
            <a:r>
              <a:rPr lang="ru-RU" sz="1500">
                <a:solidFill>
                  <a:srgbClr val="55616B"/>
                </a:solidFill>
                <a:latin typeface="PT Sans"/>
              </a:rPr>
              <a:t>файлы с данными закупок</a:t>
            </a:r>
          </a:p>
        </p:txBody>
      </p:sp>
      <p:sp>
        <p:nvSpPr>
          <p:cNvPr id="104" name="Diag 104"/>
          <p:cNvSpPr/>
          <p:nvPr/>
        </p:nvSpPr>
        <p:spPr>
          <a:xfrm>
            <a:off x="9619488" y="4315968"/>
            <a:ext cx="457200" cy="457200"/>
          </a:xfrm>
          <a:prstGeom prst="downArrow">
            <a:avLst/>
          </a:prstGeom>
          <a:solidFill>
            <a:srgbClr val="00A79D"/>
          </a:solidFill>
          <a:ln>
            <a:noFill/>
          </a:ln>
        </p:spPr>
        <p:txBody>
          <a:bodyPr wrap="square" lIns="91440" rIns="91440" tIns="45720" bIns="45720" anchor="ctr">
            <a:noAutofit/>
          </a:bodyPr>
          <a:lstStyle/>
          <a:p>
            <a:endParaRPr lang="ru-RU"/>
          </a:p>
        </p:txBody>
      </p:sp>
      <p:sp>
        <p:nvSpPr>
          <p:cNvPr id="105" name="Diag 105"/>
          <p:cNvSpPr/>
          <p:nvPr/>
        </p:nvSpPr>
        <p:spPr>
          <a:xfrm>
            <a:off x="8202168" y="4892040"/>
            <a:ext cx="3291840" cy="1234440"/>
          </a:xfrm>
          <a:prstGeom prst="roundRect">
            <a:avLst/>
          </a:prstGeom>
          <a:solidFill>
            <a:srgbClr val="00A79D"/>
          </a:solidFill>
          <a:ln>
            <a:noFill/>
          </a:ln>
        </p:spPr>
        <p:txBody>
          <a:bodyPr wrap="square" lIns="91440" rIns="91440" tIns="45720" bIns="45720" anchor="ctr">
            <a:noAutofit/>
          </a:bodyPr>
          <a:lstStyle/>
          <a:p>
            <a:pPr algn="ctr"/>
            <a:r>
              <a:rPr lang="ru-RU" sz="2600" b="1">
                <a:solidFill>
                  <a:srgbClr val="FFFFFF"/>
                </a:solidFill>
                <a:latin typeface="Roboto Condensed"/>
              </a:rPr>
              <a:t>MultiReestr</a:t>
            </a:r>
          </a:p>
          <a:p>
            <a:pPr algn="ctr"/>
            <a:r>
              <a:rPr lang="ru-RU" sz="1500">
                <a:solidFill>
                  <a:srgbClr val="FFFFFF"/>
                </a:solidFill>
                <a:latin typeface="PT Sans"/>
              </a:rPr>
              <a:t>локальная копия у вас</a:t>
            </a:r>
          </a:p>
        </p:txBody>
      </p:sp>
      <p:sp>
        <p:nvSpPr>
          <p:cNvPr id="3" name="Shape 1"/>
          <p:cNvSpPr/>
          <p:nvPr/>
        </p:nvSpPr>
        <p:spPr>
          <a:xfrm rot="16200000">
            <a:off x="1200607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4" name="Shape 2"/>
          <p:cNvSpPr/>
          <p:nvPr/>
        </p:nvSpPr>
        <p:spPr>
          <a:xfrm rot="16200000">
            <a:off x="1315901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5" name="Text 3"/>
          <p:cNvSpPr/>
          <p:nvPr/>
        </p:nvSpPr>
        <p:spPr>
          <a:xfrm>
            <a:off x="1532534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32534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08837" y="1802282"/>
            <a:ext cx="292242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A79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Откуда берутся данные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12494" y="2148840"/>
            <a:ext cx="52157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Из ЕИС </a:t>
            </a:r>
            <a:r>
              <a:rPr lang="en-US" sz="36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 MultiReestr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08837" y="3246120"/>
            <a:ext cx="5669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Заказчик публикует извещение в ЕИС — единой информационной системе закупок.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08837" y="4389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Данные можно выгрузить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8837" y="489204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MultiReestr хранит выгрузку у вас на компьютере. Помощник читает её и работает локально.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" y="0"/>
            <a:ext cx="3937406" cy="6858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01" name="Box 301"/>
          <p:cNvSpPr/>
          <p:nvPr/>
        </p:nvSpPr>
        <p:spPr>
          <a:xfrm>
            <a:off x="1472184" y="868680"/>
            <a:ext cx="32004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09728" rIns="109728" tIns="45720" bIns="45720" anchor="ctr">
            <a:noAutofit/>
          </a:bodyPr>
          <a:lstStyle/>
          <a:p>
            <a:pPr algn="ctr"/>
            <a:r>
              <a:rPr lang="ru-RU" sz="2600" b="1">
                <a:solidFill>
                  <a:srgbClr val="1E2A32"/>
                </a:solidFill>
                <a:latin typeface="Roboto Condensed"/>
              </a:rPr>
              <a:t>ЕИС</a:t>
            </a:r>
          </a:p>
          <a:p>
            <a:pPr algn="ctr"/>
            <a:r>
              <a:rPr lang="ru-RU" sz="1500" b="0">
                <a:solidFill>
                  <a:srgbClr val="55616B"/>
                </a:solidFill>
                <a:latin typeface="PT Sans"/>
              </a:rPr>
              <a:t>публикует извещения</a:t>
            </a:r>
          </a:p>
        </p:txBody>
      </p:sp>
      <p:sp>
        <p:nvSpPr>
          <p:cNvPr id="302" name="Box 302"/>
          <p:cNvSpPr/>
          <p:nvPr/>
        </p:nvSpPr>
        <p:spPr>
          <a:xfrm>
            <a:off x="2843784" y="2286000"/>
            <a:ext cx="457200" cy="411480"/>
          </a:xfrm>
          <a:prstGeom prst="downArrow">
            <a:avLst/>
          </a:prstGeom>
          <a:solidFill>
            <a:srgbClr val="00A79D"/>
          </a:solidFill>
          <a:ln>
            <a:noFill/>
          </a:ln>
        </p:spPr>
        <p:txBody>
          <a:bodyPr wrap="square" lIns="109728" rIns="109728" tIns="45720" bIns="45720" anchor="ctr">
            <a:noAutofit/>
          </a:bodyPr>
          <a:lstStyle/>
          <a:p>
            <a:endParaRPr lang="ru-RU"/>
          </a:p>
        </p:txBody>
      </p:sp>
      <p:sp>
        <p:nvSpPr>
          <p:cNvPr id="303" name="Box 303"/>
          <p:cNvSpPr/>
          <p:nvPr/>
        </p:nvSpPr>
        <p:spPr>
          <a:xfrm>
            <a:off x="1472184" y="2788920"/>
            <a:ext cx="32004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09728" rIns="109728" tIns="45720" bIns="45720" anchor="ctr">
            <a:noAutofit/>
          </a:bodyPr>
          <a:lstStyle/>
          <a:p>
            <a:pPr algn="ctr"/>
            <a:r>
              <a:rPr lang="ru-RU" sz="2600" b="1">
                <a:solidFill>
                  <a:srgbClr val="1E2A32"/>
                </a:solidFill>
                <a:latin typeface="Roboto Condensed"/>
              </a:rPr>
              <a:t>MultiReestr</a:t>
            </a:r>
          </a:p>
          <a:p>
            <a:pPr algn="ctr"/>
            <a:r>
              <a:rPr lang="ru-RU" sz="1500" b="0">
                <a:solidFill>
                  <a:srgbClr val="55616B"/>
                </a:solidFill>
                <a:latin typeface="PT Sans"/>
              </a:rPr>
              <a:t>хранит выгрузку</a:t>
            </a:r>
          </a:p>
        </p:txBody>
      </p:sp>
      <p:sp>
        <p:nvSpPr>
          <p:cNvPr id="304" name="Box 304"/>
          <p:cNvSpPr/>
          <p:nvPr/>
        </p:nvSpPr>
        <p:spPr>
          <a:xfrm>
            <a:off x="2843784" y="4206240"/>
            <a:ext cx="457200" cy="411480"/>
          </a:xfrm>
          <a:prstGeom prst="downArrow">
            <a:avLst/>
          </a:prstGeom>
          <a:solidFill>
            <a:srgbClr val="00A79D"/>
          </a:solidFill>
          <a:ln>
            <a:noFill/>
          </a:ln>
        </p:spPr>
        <p:txBody>
          <a:bodyPr wrap="square" lIns="109728" rIns="109728" tIns="45720" bIns="45720" anchor="ctr">
            <a:noAutofit/>
          </a:bodyPr>
          <a:lstStyle/>
          <a:p>
            <a:endParaRPr lang="ru-RU"/>
          </a:p>
        </p:txBody>
      </p:sp>
      <p:sp>
        <p:nvSpPr>
          <p:cNvPr id="305" name="Box 305"/>
          <p:cNvSpPr/>
          <p:nvPr/>
        </p:nvSpPr>
        <p:spPr>
          <a:xfrm>
            <a:off x="3383280" y="416052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>
            <a:noAutofit/>
          </a:bodyPr>
          <a:lstStyle/>
          <a:p>
            <a:pPr algn="l"/>
            <a:r>
              <a:rPr lang="ru-RU" sz="1400" b="1">
                <a:solidFill>
                  <a:srgbClr val="00A79D"/>
                </a:solidFill>
                <a:latin typeface="Roboto Condensed"/>
              </a:rPr>
              <a:t>только чтение</a:t>
            </a:r>
          </a:p>
        </p:txBody>
      </p:sp>
      <p:sp>
        <p:nvSpPr>
          <p:cNvPr id="306" name="Box 306"/>
          <p:cNvSpPr/>
          <p:nvPr/>
        </p:nvSpPr>
        <p:spPr>
          <a:xfrm>
            <a:off x="1472184" y="4709160"/>
            <a:ext cx="3200400" cy="1325880"/>
          </a:xfrm>
          <a:prstGeom prst="roundRect">
            <a:avLst/>
          </a:prstGeom>
          <a:solidFill>
            <a:srgbClr val="00A79D"/>
          </a:solidFill>
          <a:ln>
            <a:noFill/>
          </a:ln>
        </p:spPr>
        <p:txBody>
          <a:bodyPr wrap="square" lIns="109728" rIns="109728" tIns="45720" bIns="45720" anchor="ctr">
            <a:noAutofit/>
          </a:bodyPr>
          <a:lstStyle/>
          <a:p>
            <a:pPr algn="ctr"/>
            <a:r>
              <a:rPr lang="ru-RU" sz="2600" b="1">
                <a:solidFill>
                  <a:srgbClr val="FFFFFF"/>
                </a:solidFill>
                <a:latin typeface="Roboto Condensed"/>
              </a:rPr>
              <a:t>Помощник</a:t>
            </a:r>
          </a:p>
          <a:p>
            <a:pPr algn="ctr"/>
            <a:r>
              <a:rPr lang="ru-RU" sz="1500" b="0">
                <a:solidFill>
                  <a:srgbClr val="FFFFFF"/>
                </a:solidFill>
                <a:latin typeface="PT Sans"/>
              </a:rPr>
              <a:t>читает · хранит правила и результаты</a:t>
            </a:r>
          </a:p>
        </p:txBody>
      </p:sp>
      <p:sp>
        <p:nvSpPr>
          <p:cNvPr id="3" name="Shape 1"/>
          <p:cNvSpPr/>
          <p:nvPr/>
        </p:nvSpPr>
        <p:spPr>
          <a:xfrm rot="16200000">
            <a:off x="6858914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4" name="Shape 2"/>
          <p:cNvSpPr/>
          <p:nvPr/>
        </p:nvSpPr>
        <p:spPr>
          <a:xfrm rot="16200000">
            <a:off x="6974208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5" name="Text 3"/>
          <p:cNvSpPr/>
          <p:nvPr/>
        </p:nvSpPr>
        <p:spPr>
          <a:xfrm>
            <a:off x="7190842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90842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79946" y="1737360"/>
            <a:ext cx="3920033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A79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устроено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79946" y="2103120"/>
            <a:ext cx="419618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Три </a:t>
            </a:r>
            <a:r>
              <a:rPr lang="en-US" sz="4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части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79946" y="31089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MultiReestr хранит выгрузку. Помощник только читает её — MultiReestr не ломаем.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79946" y="4617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Свои правила и результаты проверок помощник хранит у себя.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1200607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1315901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4" name="Text 2"/>
          <p:cNvSpPr/>
          <p:nvPr/>
        </p:nvSpPr>
        <p:spPr>
          <a:xfrm>
            <a:off x="1532534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32534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1443" y="1828800"/>
            <a:ext cx="41906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Подводные </a:t>
            </a:r>
            <a:r>
              <a:rPr lang="en-US" sz="4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камни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31443" y="310896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 всё шло гладко. Вот что поправили по ходу.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06540" y="3033979"/>
            <a:ext cx="4554626" cy="1303934"/>
          </a:xfrm>
          <a:prstGeom prst="roundRect">
            <a:avLst/>
          </a:prstGeom>
          <a:solidFill>
            <a:srgbClr val="F44336"/>
          </a:solidFill>
          <a:ln/>
          <a:effectLst>
            <a:outerShdw sx="100000" sy="100000" kx="0" ky="0" algn="bl" rotWithShape="0" blurRad="114300" dist="50800" dir="5400000">
              <a:srgbClr val="000000">
                <a:alpha val="227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32650" y="31272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Честные границы задачи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32650" y="3611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обещали не трогать — не трогали.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06540" y="4566514"/>
            <a:ext cx="4554626" cy="2291486"/>
          </a:xfrm>
          <a:prstGeom prst="rect">
            <a:avLst/>
          </a:prstGeom>
          <a:solidFill>
            <a:srgbClr val="E6F6F5"/>
          </a:solidFill>
          <a:ln/>
        </p:spPr>
      </p:sp>
      <p:sp>
        <p:nvSpPr>
          <p:cNvPr id="501" name="Box 501"/>
          <p:cNvSpPr/>
          <p:nvPr/>
        </p:nvSpPr>
        <p:spPr>
          <a:xfrm>
            <a:off x="6903720" y="4846320"/>
            <a:ext cx="402336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1800" b="0">
                <a:solidFill>
                  <a:srgbClr val="1E2A32"/>
                </a:solidFill>
                <a:latin typeface="PT Sans"/>
              </a:rPr>
              <a:t>Ошибки по ходу — нормально. Важно видеть их на экране и править сразу.</a:t>
            </a:r>
          </a:p>
        </p:txBody>
      </p:sp>
      <p:sp>
        <p:nvSpPr>
          <p:cNvPr id="14" name="Shape 12"/>
          <p:cNvSpPr/>
          <p:nvPr/>
        </p:nvSpPr>
        <p:spPr>
          <a:xfrm>
            <a:off x="6606540" y="0"/>
            <a:ext cx="4554626" cy="2805379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0" name="Box 560"/>
          <p:cNvSpPr/>
          <p:nvPr/>
        </p:nvSpPr>
        <p:spPr>
          <a:xfrm>
            <a:off x="6903720" y="52120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t">
            <a:noAutofit/>
          </a:bodyPr>
          <a:lstStyle/>
          <a:p>
            <a:pPr algn="l"/>
            <a:r>
              <a:rPr lang="ru-RU" sz="1900" b="1">
                <a:solidFill>
                  <a:srgbClr val="00A79D"/>
                </a:solidFill>
                <a:latin typeface="Roboto Condensed"/>
              </a:rPr>
              <a:t>—</a:t>
            </a:r>
          </a:p>
        </p:txBody>
      </p:sp>
      <p:sp>
        <p:nvSpPr>
          <p:cNvPr id="570" name="Box 570"/>
          <p:cNvSpPr/>
          <p:nvPr/>
        </p:nvSpPr>
        <p:spPr>
          <a:xfrm>
            <a:off x="7223760" y="475488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800" b="0">
                <a:solidFill>
                  <a:srgbClr val="1E2A32"/>
                </a:solidFill>
                <a:latin typeface="PT Sans"/>
              </a:rPr>
              <a:t>Слишком длинный план — упростили</a:t>
            </a:r>
          </a:p>
        </p:txBody>
      </p:sp>
      <p:sp>
        <p:nvSpPr>
          <p:cNvPr id="561" name="Box 561"/>
          <p:cNvSpPr/>
          <p:nvPr/>
        </p:nvSpPr>
        <p:spPr>
          <a:xfrm>
            <a:off x="6903720" y="129844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t">
            <a:noAutofit/>
          </a:bodyPr>
          <a:lstStyle/>
          <a:p>
            <a:pPr algn="l"/>
            <a:r>
              <a:rPr lang="ru-RU" sz="1900" b="1">
                <a:solidFill>
                  <a:srgbClr val="00A79D"/>
                </a:solidFill>
                <a:latin typeface="Roboto Condensed"/>
              </a:rPr>
              <a:t>—</a:t>
            </a:r>
          </a:p>
        </p:txBody>
      </p:sp>
      <p:sp>
        <p:nvSpPr>
          <p:cNvPr id="571" name="Box 571"/>
          <p:cNvSpPr/>
          <p:nvPr/>
        </p:nvSpPr>
        <p:spPr>
          <a:xfrm>
            <a:off x="7223760" y="1252728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800" b="0">
                <a:solidFill>
                  <a:srgbClr val="1E2A32"/>
                </a:solidFill>
                <a:latin typeface="PT Sans"/>
              </a:rPr>
              <a:t>Docker: уточняли, «куда смотреть»</a:t>
            </a:r>
          </a:p>
        </p:txBody>
      </p:sp>
      <p:sp>
        <p:nvSpPr>
          <p:cNvPr id="562" name="Box 562"/>
          <p:cNvSpPr/>
          <p:nvPr/>
        </p:nvSpPr>
        <p:spPr>
          <a:xfrm>
            <a:off x="6903720" y="207568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t">
            <a:noAutofit/>
          </a:bodyPr>
          <a:lstStyle/>
          <a:p>
            <a:pPr algn="l"/>
            <a:r>
              <a:rPr lang="ru-RU" sz="1900" b="1">
                <a:solidFill>
                  <a:srgbClr val="00A79D"/>
                </a:solidFill>
                <a:latin typeface="Roboto Condensed"/>
              </a:rPr>
              <a:t>—</a:t>
            </a:r>
          </a:p>
        </p:txBody>
      </p:sp>
      <p:sp>
        <p:nvSpPr>
          <p:cNvPr id="572" name="Box 572"/>
          <p:cNvSpPr/>
          <p:nvPr/>
        </p:nvSpPr>
        <p:spPr>
          <a:xfrm>
            <a:off x="7223760" y="2029968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ru-RU" sz="1800" b="0">
                <a:solidFill>
                  <a:srgbClr val="1E2A32"/>
                </a:solidFill>
                <a:latin typeface="PT Sans"/>
              </a:rPr>
              <a:t>Переименование задело упаковку. MultiReestr не трогали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1200607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1315901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4" name="Text 2"/>
          <p:cNvSpPr/>
          <p:nvPr/>
        </p:nvSpPr>
        <p:spPr>
          <a:xfrm>
            <a:off x="1532534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32534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95121" y="1328623"/>
            <a:ext cx="4400093" cy="12006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Что такое </a:t>
            </a:r>
            <a:r>
              <a:rPr lang="en-US" sz="4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правило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949440" y="562356"/>
            <a:ext cx="416966" cy="416966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8" name="Shape 6"/>
          <p:cNvSpPr/>
          <p:nvPr/>
        </p:nvSpPr>
        <p:spPr>
          <a:xfrm>
            <a:off x="7053682" y="703708"/>
            <a:ext cx="208483" cy="145521"/>
          </a:xfrm>
          <a:custGeom>
            <a:avLst/>
            <a:gdLst/>
            <a:ahLst/>
            <a:cxnLst/>
            <a:rect l="l" t="t" r="r" b="b"/>
            <a:pathLst>
              <a:path w="208483" h="145521">
                <a:moveTo>
                  <a:pt x="0" y="39291"/>
                </a:moveTo>
                <a:lnTo>
                  <a:pt x="64630" y="101865"/>
                </a:lnTo>
                <a:lnTo>
                  <a:pt x="193889" y="0"/>
                </a:lnTo>
                <a:lnTo>
                  <a:pt x="208483" y="17463"/>
                </a:lnTo>
                <a:lnTo>
                  <a:pt x="68799" y="138245"/>
                </a:lnTo>
                <a:lnTo>
                  <a:pt x="0" y="756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30668" y="58155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42857"/>
              </a:lnSpc>
              <a:buNone/>
            </a:pPr>
            <a:r>
              <a:rPr lang="en-US" sz="2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Ваш критерий проблемы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30668" y="1024128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Срок, обязательное поле или своя логика. Вы решаете, что считать ошибкой.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4913071"/>
            <a:ext cx="416966" cy="416966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12" name="Shape 10"/>
          <p:cNvSpPr/>
          <p:nvPr/>
        </p:nvSpPr>
        <p:spPr>
          <a:xfrm>
            <a:off x="7053682" y="5054423"/>
            <a:ext cx="208483" cy="145521"/>
          </a:xfrm>
          <a:custGeom>
            <a:avLst/>
            <a:gdLst/>
            <a:ahLst/>
            <a:cxnLst/>
            <a:rect l="l" t="t" r="r" b="b"/>
            <a:pathLst>
              <a:path w="208483" h="145521">
                <a:moveTo>
                  <a:pt x="0" y="39291"/>
                </a:moveTo>
                <a:lnTo>
                  <a:pt x="64630" y="101865"/>
                </a:lnTo>
                <a:lnTo>
                  <a:pt x="193889" y="0"/>
                </a:lnTo>
                <a:lnTo>
                  <a:pt x="208483" y="17463"/>
                </a:lnTo>
                <a:lnTo>
                  <a:pt x="68799" y="138245"/>
                </a:lnTo>
                <a:lnTo>
                  <a:pt x="0" y="756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630668" y="493227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42857"/>
              </a:lnSpc>
              <a:buNone/>
            </a:pPr>
            <a:r>
              <a:rPr lang="en-US" sz="2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Можно включать и выключать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30668" y="537667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Нужно сейчас — включили. Мешает — выключили.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2281428"/>
            <a:ext cx="4572000" cy="2211019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260" name="Box 260"/>
          <p:cNvSpPr/>
          <p:nvPr/>
        </p:nvSpPr>
        <p:spPr>
          <a:xfrm>
            <a:off x="7178040" y="2377440"/>
            <a:ext cx="4206240" cy="201168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>
            <a:noAutofit/>
          </a:bodyPr>
          <a:lstStyle/>
          <a:p>
            <a:pPr algn="l"/>
            <a:r>
              <a:rPr lang="ru-RU" sz="2200" b="1">
                <a:solidFill>
                  <a:srgbClr val="FFFFFF"/>
                </a:solidFill>
                <a:latin typeface="Roboto Condensed"/>
              </a:rPr>
              <a:t>Не магия системы —</a:t>
            </a:r>
          </a:p>
          <a:p>
            <a:pPr algn="l"/>
            <a:r>
              <a:rPr lang="ru-RU" sz="2200" b="1">
                <a:solidFill>
                  <a:srgbClr val="FFFFFF"/>
                </a:solidFill>
                <a:latin typeface="Roboto Condensed"/>
              </a:rPr>
              <a:t>ваши договорённости</a:t>
            </a:r>
          </a:p>
        </p:txBody>
      </p:sp>
      <p:sp>
        <p:nvSpPr>
          <p:cNvPr id="16" name="Shape 14"/>
          <p:cNvSpPr/>
          <p:nvPr/>
        </p:nvSpPr>
        <p:spPr>
          <a:xfrm>
            <a:off x="1269187" y="3067812"/>
            <a:ext cx="4326026" cy="311719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61" name="Box 261"/>
          <p:cNvSpPr/>
          <p:nvPr/>
        </p:nvSpPr>
        <p:spPr>
          <a:xfrm>
            <a:off x="1269187" y="3067812"/>
            <a:ext cx="4326026" cy="548640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txBody>
          <a:bodyPr wrap="square" lIns="228600" rIns="228600" tIns="45720" bIns="45720" anchor="ctr">
            <a:noAutofit/>
          </a:bodyPr>
          <a:lstStyle/>
          <a:p>
            <a:pPr algn="l"/>
            <a:r>
              <a:rPr lang="ru-RU" sz="1800" b="1">
                <a:solidFill>
                  <a:srgbClr val="FFFFFF"/>
                </a:solidFill>
                <a:latin typeface="Roboto Condensed"/>
              </a:rPr>
              <a:t>Пример правила</a:t>
            </a:r>
          </a:p>
        </p:txBody>
      </p:sp>
      <p:sp>
        <p:nvSpPr>
          <p:cNvPr id="262" name="Box 262"/>
          <p:cNvSpPr/>
          <p:nvPr/>
        </p:nvSpPr>
        <p:spPr>
          <a:xfrm>
            <a:off x="1463040" y="3794760"/>
            <a:ext cx="3931920" cy="146304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ru-RU" sz="2000" b="0">
                <a:solidFill>
                  <a:srgbClr val="1E2A32"/>
                </a:solidFill>
                <a:latin typeface="PT Sans"/>
              </a:rPr>
              <a:t>Если поле «Объект закупки» пустое — сообщить о проблеме</a:t>
            </a:r>
          </a:p>
        </p:txBody>
      </p:sp>
      <p:sp>
        <p:nvSpPr>
          <p:cNvPr id="263" name="Box 263"/>
          <p:cNvSpPr/>
          <p:nvPr/>
        </p:nvSpPr>
        <p:spPr>
          <a:xfrm>
            <a:off x="1463040" y="5440680"/>
            <a:ext cx="1005840" cy="411480"/>
          </a:xfrm>
          <a:prstGeom prst="roundRect">
            <a:avLst/>
          </a:prstGeom>
          <a:solidFill>
            <a:srgbClr val="00A79D"/>
          </a:solidFill>
          <a:ln>
            <a:noFill/>
          </a:ln>
        </p:spPr>
        <p:txBody>
          <a:bodyPr wrap="square" lIns="109728" rIns="109728" tIns="45720" bIns="45720" anchor="ctr">
            <a:noAutofit/>
          </a:bodyPr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Roboto Condensed"/>
              </a:rPr>
              <a:t>Вкл</a:t>
            </a:r>
          </a:p>
        </p:txBody>
      </p:sp>
      <p:sp>
        <p:nvSpPr>
          <p:cNvPr id="264" name="Box 264"/>
          <p:cNvSpPr/>
          <p:nvPr/>
        </p:nvSpPr>
        <p:spPr>
          <a:xfrm>
            <a:off x="2560320" y="54406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>
            <a:noAutofit/>
          </a:bodyPr>
          <a:lstStyle/>
          <a:p>
            <a:pPr algn="l"/>
            <a:r>
              <a:rPr lang="ru-RU" sz="1500" b="0">
                <a:solidFill>
                  <a:srgbClr val="55616B"/>
                </a:solidFill>
                <a:latin typeface="PT Sans"/>
              </a:rPr>
              <a:t>правило активно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7961" y="595274"/>
            <a:ext cx="4657039" cy="553120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30" name="Box 430"/>
          <p:cNvSpPr/>
          <p:nvPr/>
        </p:nvSpPr>
        <p:spPr>
          <a:xfrm>
            <a:off x="1417320" y="960120"/>
            <a:ext cx="640080" cy="640080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2200" b="1">
                <a:solidFill>
                  <a:srgbClr val="FFFFFF"/>
                </a:solidFill>
                <a:latin typeface="Roboto Condensed"/>
              </a:rPr>
              <a:t>1</a:t>
            </a:r>
          </a:p>
        </p:txBody>
      </p:sp>
      <p:sp>
        <p:nvSpPr>
          <p:cNvPr id="440" name="Box 440"/>
          <p:cNvSpPr/>
          <p:nvPr/>
        </p:nvSpPr>
        <p:spPr>
          <a:xfrm>
            <a:off x="2240280" y="960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2000" b="1">
                <a:solidFill>
                  <a:srgbClr val="1E2A32"/>
                </a:solidFill>
                <a:latin typeface="Roboto Condensed"/>
              </a:rPr>
              <a:t>Договорились, что проверяем</a:t>
            </a:r>
          </a:p>
        </p:txBody>
      </p:sp>
      <p:sp>
        <p:nvSpPr>
          <p:cNvPr id="431" name="Box 431"/>
          <p:cNvSpPr/>
          <p:nvPr/>
        </p:nvSpPr>
        <p:spPr>
          <a:xfrm>
            <a:off x="1417320" y="1965960"/>
            <a:ext cx="640080" cy="640080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2200" b="1">
                <a:solidFill>
                  <a:srgbClr val="FFFFFF"/>
                </a:solidFill>
                <a:latin typeface="Roboto Condensed"/>
              </a:rPr>
              <a:t>2</a:t>
            </a:r>
          </a:p>
        </p:txBody>
      </p:sp>
      <p:sp>
        <p:nvSpPr>
          <p:cNvPr id="441" name="Box 441"/>
          <p:cNvSpPr/>
          <p:nvPr/>
        </p:nvSpPr>
        <p:spPr>
          <a:xfrm>
            <a:off x="2240280" y="19659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2000" b="1">
                <a:solidFill>
                  <a:srgbClr val="1E2A32"/>
                </a:solidFill>
                <a:latin typeface="Roboto Condensed"/>
              </a:rPr>
              <a:t>План</a:t>
            </a:r>
          </a:p>
        </p:txBody>
      </p:sp>
      <p:sp>
        <p:nvSpPr>
          <p:cNvPr id="432" name="Box 432"/>
          <p:cNvSpPr/>
          <p:nvPr/>
        </p:nvSpPr>
        <p:spPr>
          <a:xfrm>
            <a:off x="1417320" y="2971800"/>
            <a:ext cx="640080" cy="640080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2200" b="1">
                <a:solidFill>
                  <a:srgbClr val="FFFFFF"/>
                </a:solidFill>
                <a:latin typeface="Roboto Condensed"/>
              </a:rPr>
              <a:t>3</a:t>
            </a:r>
          </a:p>
        </p:txBody>
      </p:sp>
      <p:sp>
        <p:nvSpPr>
          <p:cNvPr id="442" name="Box 442"/>
          <p:cNvSpPr/>
          <p:nvPr/>
        </p:nvSpPr>
        <p:spPr>
          <a:xfrm>
            <a:off x="2240280" y="297180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2000" b="1">
                <a:solidFill>
                  <a:srgbClr val="1E2A32"/>
                </a:solidFill>
                <a:latin typeface="Roboto Condensed"/>
              </a:rPr>
              <a:t>Сделали</a:t>
            </a:r>
          </a:p>
        </p:txBody>
      </p:sp>
      <p:sp>
        <p:nvSpPr>
          <p:cNvPr id="433" name="Box 433"/>
          <p:cNvSpPr/>
          <p:nvPr/>
        </p:nvSpPr>
        <p:spPr>
          <a:xfrm>
            <a:off x="1417320" y="3977640"/>
            <a:ext cx="640080" cy="640080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2200" b="1">
                <a:solidFill>
                  <a:srgbClr val="FFFFFF"/>
                </a:solidFill>
                <a:latin typeface="Roboto Condensed"/>
              </a:rPr>
              <a:t>4</a:t>
            </a:r>
          </a:p>
        </p:txBody>
      </p:sp>
      <p:sp>
        <p:nvSpPr>
          <p:cNvPr id="443" name="Box 443"/>
          <p:cNvSpPr/>
          <p:nvPr/>
        </p:nvSpPr>
        <p:spPr>
          <a:xfrm>
            <a:off x="2240280" y="39776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2000" b="1">
                <a:solidFill>
                  <a:srgbClr val="1E2A32"/>
                </a:solidFill>
                <a:latin typeface="Roboto Condensed"/>
              </a:rPr>
              <a:t>Прогон на учебных данных</a:t>
            </a:r>
          </a:p>
        </p:txBody>
      </p:sp>
      <p:sp>
        <p:nvSpPr>
          <p:cNvPr id="434" name="Box 434"/>
          <p:cNvSpPr/>
          <p:nvPr/>
        </p:nvSpPr>
        <p:spPr>
          <a:xfrm>
            <a:off x="1417320" y="4983480"/>
            <a:ext cx="640080" cy="640080"/>
          </a:xfrm>
          <a:prstGeom prst="ellipse">
            <a:avLst/>
          </a:prstGeom>
          <a:solidFill>
            <a:srgbClr val="00A79D"/>
          </a:solidFill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2200" b="1">
                <a:solidFill>
                  <a:srgbClr val="FFFFFF"/>
                </a:solidFill>
                <a:latin typeface="Roboto Condensed"/>
              </a:rPr>
              <a:t>5</a:t>
            </a:r>
          </a:p>
        </p:txBody>
      </p:sp>
      <p:sp>
        <p:nvSpPr>
          <p:cNvPr id="444" name="Box 444"/>
          <p:cNvSpPr/>
          <p:nvPr/>
        </p:nvSpPr>
        <p:spPr>
          <a:xfrm>
            <a:off x="2240280" y="498348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2000" b="1">
                <a:solidFill>
                  <a:srgbClr val="1E2A32"/>
                </a:solidFill>
                <a:latin typeface="Roboto Condensed"/>
              </a:rPr>
              <a:t>Уточнили формулировку</a:t>
            </a:r>
          </a:p>
        </p:txBody>
      </p:sp>
      <p:sp>
        <p:nvSpPr>
          <p:cNvPr id="3" name="Shape 1"/>
          <p:cNvSpPr/>
          <p:nvPr/>
        </p:nvSpPr>
        <p:spPr>
          <a:xfrm rot="16200000">
            <a:off x="6858914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4" name="Shape 2"/>
          <p:cNvSpPr/>
          <p:nvPr/>
        </p:nvSpPr>
        <p:spPr>
          <a:xfrm rot="16200000">
            <a:off x="6974208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5" name="Text 3"/>
          <p:cNvSpPr/>
          <p:nvPr/>
        </p:nvSpPr>
        <p:spPr>
          <a:xfrm>
            <a:off x="7190842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90842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92747" y="155448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Правила </a:t>
            </a:r>
            <a:r>
              <a:rPr lang="en-US" sz="4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 агентом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946697" y="3331159"/>
            <a:ext cx="416966" cy="416966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9" name="Shape 7"/>
          <p:cNvSpPr/>
          <p:nvPr/>
        </p:nvSpPr>
        <p:spPr>
          <a:xfrm>
            <a:off x="7050938" y="3472511"/>
            <a:ext cx="208483" cy="145521"/>
          </a:xfrm>
          <a:custGeom>
            <a:avLst/>
            <a:gdLst/>
            <a:ahLst/>
            <a:cxnLst/>
            <a:rect l="l" t="t" r="r" b="b"/>
            <a:pathLst>
              <a:path w="208483" h="145521">
                <a:moveTo>
                  <a:pt x="0" y="39291"/>
                </a:moveTo>
                <a:lnTo>
                  <a:pt x="64630" y="101865"/>
                </a:lnTo>
                <a:lnTo>
                  <a:pt x="193889" y="0"/>
                </a:lnTo>
                <a:lnTo>
                  <a:pt x="208483" y="17463"/>
                </a:lnTo>
                <a:lnTo>
                  <a:pt x="68799" y="138245"/>
                </a:lnTo>
                <a:lnTo>
                  <a:pt x="0" y="756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530998" y="3340303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2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Проверено на данных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92747" y="379476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Прогон на учебных данных показывает, работает ли правило.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6697" y="4764938"/>
            <a:ext cx="416966" cy="416966"/>
          </a:xfrm>
          <a:prstGeom prst="ellipse">
            <a:avLst/>
          </a:prstGeom>
          <a:solidFill>
            <a:srgbClr val="F44336"/>
          </a:solidFill>
          <a:ln/>
        </p:spPr>
      </p:sp>
      <p:sp>
        <p:nvSpPr>
          <p:cNvPr id="450" name="Box 450"/>
          <p:cNvSpPr/>
          <p:nvPr/>
        </p:nvSpPr>
        <p:spPr>
          <a:xfrm>
            <a:off x="6946697" y="4764938"/>
            <a:ext cx="416966" cy="416966"/>
          </a:xfrm>
          <a:prstGeom prst="ellipse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1800" b="1">
                <a:solidFill>
                  <a:srgbClr val="FFFFFF"/>
                </a:solidFill>
                <a:latin typeface="Roboto Condensed"/>
              </a:rPr>
              <a:t>!</a:t>
            </a:r>
          </a:p>
        </p:txBody>
      </p:sp>
      <p:sp>
        <p:nvSpPr>
          <p:cNvPr id="14" name="Text 12"/>
          <p:cNvSpPr/>
          <p:nvPr/>
        </p:nvSpPr>
        <p:spPr>
          <a:xfrm>
            <a:off x="7530998" y="47731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2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Правило «на бумаге»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92747" y="525780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Без живой проверки правило не проверено.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775704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6890997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4" name="Text 2"/>
          <p:cNvSpPr/>
          <p:nvPr/>
        </p:nvSpPr>
        <p:spPr>
          <a:xfrm>
            <a:off x="7107631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07631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43700" y="1494130"/>
            <a:ext cx="4166006" cy="21232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Что находят </a:t>
            </a:r>
            <a:r>
              <a:rPr lang="en-US" sz="44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на аудите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156716" y="962863"/>
            <a:ext cx="4949647" cy="1393546"/>
          </a:xfrm>
          <a:prstGeom prst="roundRect">
            <a:avLst>
              <a:gd name="adj" fmla="val 90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50800" dir="5400000">
              <a:srgbClr val="000000">
                <a:alpha val="267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04188" y="1280160"/>
            <a:ext cx="661111" cy="661111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708" name="Box 708"/>
          <p:cNvSpPr/>
          <p:nvPr/>
        </p:nvSpPr>
        <p:spPr>
          <a:xfrm>
            <a:off x="1504188" y="1280160"/>
            <a:ext cx="661111" cy="6611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2800" b="1">
                <a:solidFill>
                  <a:srgbClr val="FFFFFF"/>
                </a:solidFill>
                <a:latin typeface="Roboto Condensed"/>
              </a:rPr>
              <a:t>!</a:t>
            </a:r>
          </a:p>
        </p:txBody>
      </p:sp>
      <p:sp>
        <p:nvSpPr>
          <p:cNvPr id="10" name="Text 8"/>
          <p:cNvSpPr/>
          <p:nvPr/>
        </p:nvSpPr>
        <p:spPr>
          <a:xfrm>
            <a:off x="2430475" y="1188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Сроки «плывут»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30475" y="161848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Даты в извещении и редакциях не сходятся.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56716" y="2775204"/>
            <a:ext cx="4949647" cy="1393546"/>
          </a:xfrm>
          <a:prstGeom prst="roundRect">
            <a:avLst>
              <a:gd name="adj" fmla="val 90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50800" dir="5400000">
              <a:srgbClr val="000000">
                <a:alpha val="267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504188" y="3092501"/>
            <a:ext cx="661111" cy="661111"/>
          </a:xfrm>
          <a:prstGeom prst="ellipse">
            <a:avLst/>
          </a:prstGeom>
          <a:solidFill>
            <a:srgbClr val="F44336"/>
          </a:solidFill>
          <a:ln/>
        </p:spPr>
      </p:sp>
      <p:sp>
        <p:nvSpPr>
          <p:cNvPr id="713" name="Box 713"/>
          <p:cNvSpPr/>
          <p:nvPr/>
        </p:nvSpPr>
        <p:spPr>
          <a:xfrm>
            <a:off x="1504188" y="3092501"/>
            <a:ext cx="661111" cy="6611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2800" b="1">
                <a:solidFill>
                  <a:srgbClr val="FFFFFF"/>
                </a:solidFill>
                <a:latin typeface="Roboto Condensed"/>
              </a:rPr>
              <a:t>!</a:t>
            </a:r>
          </a:p>
        </p:txBody>
      </p:sp>
      <p:sp>
        <p:nvSpPr>
          <p:cNvPr id="15" name="Text 13"/>
          <p:cNvSpPr/>
          <p:nvPr/>
        </p:nvSpPr>
        <p:spPr>
          <a:xfrm>
            <a:off x="2430475" y="3001061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Пустое обязательное поле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30475" y="3430829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 заполнено то, что должно быть всегда.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56716" y="4501591"/>
            <a:ext cx="4949647" cy="1393546"/>
          </a:xfrm>
          <a:prstGeom prst="roundRect">
            <a:avLst>
              <a:gd name="adj" fmla="val 90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50800" dir="5400000">
              <a:srgbClr val="000000">
                <a:alpha val="267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504188" y="4818888"/>
            <a:ext cx="661111" cy="661111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718" name="Box 718"/>
          <p:cNvSpPr/>
          <p:nvPr/>
        </p:nvSpPr>
        <p:spPr>
          <a:xfrm>
            <a:off x="1504188" y="4818888"/>
            <a:ext cx="661111" cy="6611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2800" b="1">
                <a:solidFill>
                  <a:srgbClr val="FFFFFF"/>
                </a:solidFill>
                <a:latin typeface="Roboto Condensed"/>
              </a:rPr>
              <a:t>!</a:t>
            </a:r>
          </a:p>
        </p:txBody>
      </p:sp>
      <p:sp>
        <p:nvSpPr>
          <p:cNvPr id="20" name="Text 18"/>
          <p:cNvSpPr/>
          <p:nvPr/>
        </p:nvSpPr>
        <p:spPr>
          <a:xfrm>
            <a:off x="2430475" y="47274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Редакции не сходятся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30475" y="5157216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Данные поменяли, а связанные поля забыли.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3428" y="4216298"/>
            <a:ext cx="5339182" cy="2641702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230" name="Box 230"/>
          <p:cNvSpPr/>
          <p:nvPr/>
        </p:nvSpPr>
        <p:spPr>
          <a:xfrm>
            <a:off x="7264908" y="4536338"/>
            <a:ext cx="4516222" cy="2001622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>
            <a:noAutofit/>
          </a:bodyPr>
          <a:lstStyle/>
          <a:p>
            <a:pPr algn="l"/>
            <a:r>
              <a:rPr lang="ru-RU" sz="2600" b="1">
                <a:solidFill>
                  <a:srgbClr val="FFFFFF"/>
                </a:solidFill>
                <a:latin typeface="Roboto Condensed"/>
              </a:rPr>
              <a:t>Всё это можно найти заранее — до аудита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71754"/>
            <a:ext cx="12192000" cy="48463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3" name="Shape 1"/>
          <p:cNvSpPr/>
          <p:nvPr/>
        </p:nvSpPr>
        <p:spPr>
          <a:xfrm>
            <a:off x="4130345" y="534924"/>
            <a:ext cx="3930091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403750" y="534924"/>
            <a:ext cx="3384194" cy="461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Кто что делает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19426" y="1188720"/>
            <a:ext cx="67528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66666"/>
              </a:lnSpc>
              <a:buNone/>
            </a:pPr>
            <a:r>
              <a:rPr lang="en-US" sz="18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Работа с агентом — это разделение ролей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51660" y="2011680"/>
            <a:ext cx="2011680" cy="2011680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310" name="Box 310"/>
          <p:cNvSpPr/>
          <p:nvPr/>
        </p:nvSpPr>
        <p:spPr>
          <a:xfrm>
            <a:off x="1851660" y="2011680"/>
            <a:ext cx="2011680" cy="2011680"/>
          </a:xfrm>
          <a:prstGeom prst="ellipse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3000" b="1">
                <a:solidFill>
                  <a:srgbClr val="FFFFFF"/>
                </a:solidFill>
                <a:latin typeface="Roboto Condensed"/>
              </a:rPr>
              <a:t>Вы</a:t>
            </a:r>
          </a:p>
        </p:txBody>
      </p:sp>
      <p:sp>
        <p:nvSpPr>
          <p:cNvPr id="8" name="Text 6"/>
          <p:cNvSpPr/>
          <p:nvPr/>
        </p:nvSpPr>
        <p:spPr>
          <a:xfrm>
            <a:off x="134874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Постановка и решение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8740" y="48006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Говорите, что нужно, и решаете: «принято» или «не принято».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89550" y="2011680"/>
            <a:ext cx="2011680" cy="2011680"/>
          </a:xfrm>
          <a:prstGeom prst="ellipse">
            <a:avLst/>
          </a:prstGeom>
          <a:solidFill>
            <a:srgbClr val="1E2A32"/>
          </a:solidFill>
          <a:ln/>
        </p:spPr>
      </p:sp>
      <p:sp>
        <p:nvSpPr>
          <p:cNvPr id="311" name="Box 311"/>
          <p:cNvSpPr/>
          <p:nvPr/>
        </p:nvSpPr>
        <p:spPr>
          <a:xfrm>
            <a:off x="5089550" y="2011680"/>
            <a:ext cx="2011680" cy="2011680"/>
          </a:xfrm>
          <a:prstGeom prst="ellipse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3000" b="1">
                <a:solidFill>
                  <a:srgbClr val="FFFFFF"/>
                </a:solidFill>
                <a:latin typeface="Roboto Condensed"/>
              </a:rPr>
              <a:t>Агент</a:t>
            </a:r>
          </a:p>
        </p:txBody>
      </p:sp>
      <p:sp>
        <p:nvSpPr>
          <p:cNvPr id="12" name="Text 10"/>
          <p:cNvSpPr/>
          <p:nvPr/>
        </p:nvSpPr>
        <p:spPr>
          <a:xfrm>
            <a:off x="458663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План и черновики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86630" y="48006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Предлагает план и пишет первые версии.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8355" y="2011680"/>
            <a:ext cx="2011680" cy="2011680"/>
          </a:xfrm>
          <a:prstGeom prst="ellipse">
            <a:avLst/>
          </a:prstGeom>
          <a:solidFill>
            <a:srgbClr val="E6F6F5"/>
          </a:solidFill>
          <a:ln/>
        </p:spPr>
      </p:sp>
      <p:sp>
        <p:nvSpPr>
          <p:cNvPr id="312" name="Box 312"/>
          <p:cNvSpPr/>
          <p:nvPr/>
        </p:nvSpPr>
        <p:spPr>
          <a:xfrm>
            <a:off x="8328355" y="2011680"/>
            <a:ext cx="2011680" cy="2011680"/>
          </a:xfrm>
          <a:prstGeom prst="ellipse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ctr"/>
            <a:r>
              <a:rPr lang="ru-RU" sz="3000" b="1">
                <a:solidFill>
                  <a:srgbClr val="00A79D"/>
                </a:solidFill>
                <a:latin typeface="Roboto Condensed"/>
              </a:rPr>
              <a:t>Вместе</a:t>
            </a:r>
          </a:p>
        </p:txBody>
      </p:sp>
      <p:sp>
        <p:nvSpPr>
          <p:cNvPr id="16" name="Text 14"/>
          <p:cNvSpPr/>
          <p:nvPr/>
        </p:nvSpPr>
        <p:spPr>
          <a:xfrm>
            <a:off x="7825435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Проверка на экране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25435" y="48006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Смотрим результат вместе и поправляем.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rot="16200000">
            <a:off x="1200607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4" name="Shape 2"/>
          <p:cNvSpPr/>
          <p:nvPr/>
        </p:nvSpPr>
        <p:spPr>
          <a:xfrm rot="16200000">
            <a:off x="1315901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5" name="Text 3"/>
          <p:cNvSpPr/>
          <p:nvPr/>
        </p:nvSpPr>
        <p:spPr>
          <a:xfrm>
            <a:off x="1532534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32534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4595" y="17373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Чем это </a:t>
            </a:r>
            <a:r>
              <a:rPr lang="en-US" sz="44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грозит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1E2A32"/>
          </a:solidFill>
          <a:ln/>
        </p:spPr>
      </p:sp>
      <p:sp>
        <p:nvSpPr>
          <p:cNvPr id="240" name="Box 240"/>
          <p:cNvSpPr/>
          <p:nvPr/>
        </p:nvSpPr>
        <p:spPr>
          <a:xfrm>
            <a:off x="1097280" y="4709160"/>
            <a:ext cx="10058400" cy="192024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>
            <a:noAutofit/>
          </a:bodyPr>
          <a:lstStyle/>
          <a:p>
            <a:pPr algn="l"/>
            <a:r>
              <a:rPr lang="ru-RU" sz="1800" b="1">
                <a:solidFill>
                  <a:srgbClr val="F44336"/>
                </a:solidFill>
                <a:latin typeface="Roboto Condensed"/>
              </a:rPr>
              <a:t>Вывод</a:t>
            </a:r>
          </a:p>
          <a:p>
            <a:pPr algn="l"/>
            <a:r>
              <a:rPr lang="ru-RU" sz="3200" b="1">
                <a:solidFill>
                  <a:srgbClr val="FFFFFF"/>
                </a:solidFill>
                <a:latin typeface="Roboto Condensed"/>
              </a:rPr>
              <a:t>Нужен помощник: проверить извещение до аудита</a:t>
            </a:r>
          </a:p>
        </p:txBody>
      </p:sp>
      <p:sp>
        <p:nvSpPr>
          <p:cNvPr id="10" name="Text 8"/>
          <p:cNvSpPr/>
          <p:nvPr/>
        </p:nvSpPr>
        <p:spPr>
          <a:xfrm>
            <a:off x="5760720" y="155448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0" y="16276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Замечания и переделки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212140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Документы возвращают, работу делают дважды.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292608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858000" y="2999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Риски для подразделения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349300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Повторные ошибки видят руководство и проверяющие.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1200607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1315901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4" name="Text 2"/>
          <p:cNvSpPr/>
          <p:nvPr/>
        </p:nvSpPr>
        <p:spPr>
          <a:xfrm>
            <a:off x="1532534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32534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1910" y="137160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Что такое </a:t>
            </a:r>
            <a:r>
              <a:rPr lang="en-US" sz="4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извещение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11910" y="28346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Карточка закупки в ЕИС. Из неё понятно: что покупают, когда и у кого.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1910" y="42976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 b="1">
                <a:solidFill>
                  <a:srgbClr val="00A79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Редакция</a:t>
            </a:r>
            <a:r>
              <a:rPr lang="en-US" sz="18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исправление той же закупки. Номер тот же, данные новые.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62472" y="1378001"/>
            <a:ext cx="6119165" cy="4114800"/>
          </a:xfrm>
          <a:prstGeom prst="roundRect">
            <a:avLst>
              <a:gd name="adj" fmla="val 2889"/>
            </a:avLst>
          </a:prstGeom>
          <a:solidFill>
            <a:srgbClr val="CDCFD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85332" y="1400861"/>
            <a:ext cx="6073445" cy="4069080"/>
          </a:xfrm>
          <a:prstGeom prst="roundRect">
            <a:avLst>
              <a:gd name="adj" fmla="val 2472"/>
            </a:avLst>
          </a:prstGeom>
          <a:solidFill>
            <a:srgbClr val="0C1116"/>
          </a:solidFill>
          <a:ln/>
        </p:spPr>
      </p:sp>
      <p:sp>
        <p:nvSpPr>
          <p:cNvPr id="13" name="Shape 11"/>
          <p:cNvSpPr/>
          <p:nvPr/>
        </p:nvSpPr>
        <p:spPr>
          <a:xfrm>
            <a:off x="6254496" y="1581912"/>
            <a:ext cx="5767121" cy="3694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1" name="Box 201"/>
          <p:cNvSpPr/>
          <p:nvPr/>
        </p:nvSpPr>
        <p:spPr>
          <a:xfrm>
            <a:off x="6254496" y="1581912"/>
            <a:ext cx="5767121" cy="566928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txBody>
          <a:bodyPr wrap="square" lIns="228600" rIns="228600" tIns="45720" bIns="45720" anchor="ctr">
            <a:noAutofit/>
          </a:bodyPr>
          <a:lstStyle/>
          <a:p>
            <a:pPr algn="l"/>
            <a:r>
              <a:rPr lang="ru-RU" sz="2000" b="1">
                <a:solidFill>
                  <a:srgbClr val="FFFFFF"/>
                </a:solidFill>
                <a:latin typeface="Roboto Condensed"/>
              </a:rPr>
              <a:t>Извещение о закупке</a:t>
            </a:r>
          </a:p>
        </p:txBody>
      </p:sp>
      <p:sp>
        <p:nvSpPr>
          <p:cNvPr id="210" name="Box 210"/>
          <p:cNvSpPr/>
          <p:nvPr/>
        </p:nvSpPr>
        <p:spPr>
          <a:xfrm>
            <a:off x="6437376" y="2295144"/>
            <a:ext cx="5401361" cy="4937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164592" rIns="164592" tIns="45720" bIns="45720" anchor="ctr">
            <a:noAutofit/>
          </a:bodyPr>
          <a:lstStyle/>
          <a:p>
            <a:pPr algn="l"/>
            <a:r>
              <a:rPr lang="ru-RU" sz="1800" b="1">
                <a:solidFill>
                  <a:srgbClr val="1E2A32"/>
                </a:solidFill>
                <a:latin typeface="Roboto Condensed"/>
              </a:rPr>
              <a:t>Номер   </a:t>
            </a:r>
            <a:r>
              <a:rPr lang="ru-RU" sz="1600" b="0">
                <a:solidFill>
                  <a:srgbClr val="55616B"/>
                </a:solidFill>
                <a:latin typeface="PT Sans"/>
              </a:rPr>
              <a:t>уникальный код закупки</a:t>
            </a:r>
          </a:p>
        </p:txBody>
      </p:sp>
      <p:sp>
        <p:nvSpPr>
          <p:cNvPr id="211" name="Box 211"/>
          <p:cNvSpPr/>
          <p:nvPr/>
        </p:nvSpPr>
        <p:spPr>
          <a:xfrm>
            <a:off x="6437376" y="2862072"/>
            <a:ext cx="5401361" cy="4937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164592" rIns="164592" tIns="45720" bIns="45720" anchor="ctr">
            <a:noAutofit/>
          </a:bodyPr>
          <a:lstStyle/>
          <a:p>
            <a:pPr algn="l"/>
            <a:r>
              <a:rPr lang="ru-RU" sz="1800" b="1">
                <a:solidFill>
                  <a:srgbClr val="1E2A32"/>
                </a:solidFill>
                <a:latin typeface="Roboto Condensed"/>
              </a:rPr>
              <a:t>Даты   </a:t>
            </a:r>
            <a:r>
              <a:rPr lang="ru-RU" sz="1600" b="0">
                <a:solidFill>
                  <a:srgbClr val="55616B"/>
                </a:solidFill>
                <a:latin typeface="PT Sans"/>
              </a:rPr>
              <a:t>подача заявок, подведение итогов</a:t>
            </a:r>
          </a:p>
        </p:txBody>
      </p:sp>
      <p:sp>
        <p:nvSpPr>
          <p:cNvPr id="212" name="Box 212"/>
          <p:cNvSpPr/>
          <p:nvPr/>
        </p:nvSpPr>
        <p:spPr>
          <a:xfrm>
            <a:off x="6437376" y="3429000"/>
            <a:ext cx="5401361" cy="4937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164592" rIns="164592" tIns="45720" bIns="45720" anchor="ctr">
            <a:noAutofit/>
          </a:bodyPr>
          <a:lstStyle/>
          <a:p>
            <a:pPr algn="l"/>
            <a:r>
              <a:rPr lang="ru-RU" sz="1800" b="1">
                <a:solidFill>
                  <a:srgbClr val="1E2A32"/>
                </a:solidFill>
                <a:latin typeface="Roboto Condensed"/>
              </a:rPr>
              <a:t>Объект закупки   </a:t>
            </a:r>
            <a:r>
              <a:rPr lang="ru-RU" sz="1600" b="0">
                <a:solidFill>
                  <a:srgbClr val="55616B"/>
                </a:solidFill>
                <a:latin typeface="PT Sans"/>
              </a:rPr>
              <a:t>что именно покупают</a:t>
            </a:r>
          </a:p>
        </p:txBody>
      </p:sp>
      <p:sp>
        <p:nvSpPr>
          <p:cNvPr id="213" name="Box 213"/>
          <p:cNvSpPr/>
          <p:nvPr/>
        </p:nvSpPr>
        <p:spPr>
          <a:xfrm>
            <a:off x="6437376" y="3995928"/>
            <a:ext cx="5401361" cy="4937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164592" rIns="164592" tIns="45720" bIns="45720" anchor="ctr">
            <a:noAutofit/>
          </a:bodyPr>
          <a:lstStyle/>
          <a:p>
            <a:pPr algn="l"/>
            <a:r>
              <a:rPr lang="ru-RU" sz="1800" b="1">
                <a:solidFill>
                  <a:srgbClr val="1E2A32"/>
                </a:solidFill>
                <a:latin typeface="Roboto Condensed"/>
              </a:rPr>
              <a:t>Заказчик   </a:t>
            </a:r>
            <a:r>
              <a:rPr lang="ru-RU" sz="1600" b="0">
                <a:solidFill>
                  <a:srgbClr val="55616B"/>
                </a:solidFill>
                <a:latin typeface="PT Sans"/>
              </a:rPr>
              <a:t>кто покупает</a:t>
            </a:r>
          </a:p>
        </p:txBody>
      </p:sp>
      <p:sp>
        <p:nvSpPr>
          <p:cNvPr id="220" name="Box 220"/>
          <p:cNvSpPr/>
          <p:nvPr/>
        </p:nvSpPr>
        <p:spPr>
          <a:xfrm>
            <a:off x="6437376" y="4608576"/>
            <a:ext cx="1737360" cy="384048"/>
          </a:xfrm>
          <a:prstGeom prst="rect">
            <a:avLst/>
          </a:prstGeom>
          <a:solidFill>
            <a:srgbClr val="E0F4F2"/>
          </a:solidFill>
          <a:ln>
            <a:noFill/>
          </a:ln>
        </p:spPr>
        <p:txBody>
          <a:bodyPr wrap="square" lIns="109728" rIns="109728" tIns="45720" bIns="45720" anchor="ctr">
            <a:noAutofit/>
          </a:bodyPr>
          <a:lstStyle/>
          <a:p>
            <a:pPr algn="ctr"/>
            <a:r>
              <a:rPr lang="ru-RU" sz="1400" b="1">
                <a:solidFill>
                  <a:srgbClr val="00A79D"/>
                </a:solidFill>
                <a:latin typeface="Roboto Condensed"/>
              </a:rPr>
              <a:t>Редакция 1</a:t>
            </a:r>
          </a:p>
        </p:txBody>
      </p:sp>
      <p:sp>
        <p:nvSpPr>
          <p:cNvPr id="221" name="Box 221"/>
          <p:cNvSpPr/>
          <p:nvPr/>
        </p:nvSpPr>
        <p:spPr>
          <a:xfrm>
            <a:off x="8266176" y="4608576"/>
            <a:ext cx="1737360" cy="384048"/>
          </a:xfrm>
          <a:prstGeom prst="rect">
            <a:avLst/>
          </a:prstGeom>
          <a:solidFill>
            <a:srgbClr val="E0F4F2"/>
          </a:solidFill>
          <a:ln>
            <a:noFill/>
          </a:ln>
        </p:spPr>
        <p:txBody>
          <a:bodyPr wrap="square" lIns="109728" rIns="109728" tIns="45720" bIns="45720" anchor="ctr">
            <a:noAutofit/>
          </a:bodyPr>
          <a:lstStyle/>
          <a:p>
            <a:pPr algn="ctr"/>
            <a:r>
              <a:rPr lang="ru-RU" sz="1400" b="1">
                <a:solidFill>
                  <a:srgbClr val="00A79D"/>
                </a:solidFill>
                <a:latin typeface="Roboto Condensed"/>
              </a:rPr>
              <a:t>Редакция 2</a:t>
            </a:r>
          </a:p>
        </p:txBody>
      </p:sp>
      <p:sp>
        <p:nvSpPr>
          <p:cNvPr id="222" name="Box 222"/>
          <p:cNvSpPr/>
          <p:nvPr/>
        </p:nvSpPr>
        <p:spPr>
          <a:xfrm>
            <a:off x="10094976" y="4608576"/>
            <a:ext cx="1737360" cy="384048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txBody>
          <a:bodyPr wrap="square" lIns="109728" rIns="109728" tIns="45720" bIns="45720" anchor="ctr">
            <a:no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Roboto Condensed"/>
              </a:rPr>
              <a:t>Редакция 3</a:t>
            </a:r>
          </a:p>
        </p:txBody>
      </p:sp>
      <p:sp>
        <p:nvSpPr>
          <p:cNvPr id="14" name="Shape 12"/>
          <p:cNvSpPr/>
          <p:nvPr/>
        </p:nvSpPr>
        <p:spPr>
          <a:xfrm>
            <a:off x="9111996" y="1463040"/>
            <a:ext cx="45720" cy="45720"/>
          </a:xfrm>
          <a:prstGeom prst="ellipse">
            <a:avLst/>
          </a:prstGeom>
          <a:solidFill>
            <a:srgbClr val="39414A"/>
          </a:solidFill>
          <a:ln/>
        </p:spPr>
      </p:sp>
      <p:sp>
        <p:nvSpPr>
          <p:cNvPr id="15" name="Shape 13"/>
          <p:cNvSpPr/>
          <p:nvPr/>
        </p:nvSpPr>
        <p:spPr>
          <a:xfrm>
            <a:off x="5382158" y="5492801"/>
            <a:ext cx="6799478" cy="150876"/>
          </a:xfrm>
          <a:prstGeom prst="roundRect">
            <a:avLst>
              <a:gd name="adj" fmla="val 36364"/>
            </a:avLst>
          </a:prstGeom>
          <a:solidFill>
            <a:srgbClr val="EDEDED"/>
          </a:solidFill>
          <a:ln/>
        </p:spPr>
      </p:sp>
      <p:sp>
        <p:nvSpPr>
          <p:cNvPr id="16" name="Shape 14"/>
          <p:cNvSpPr/>
          <p:nvPr/>
        </p:nvSpPr>
        <p:spPr>
          <a:xfrm>
            <a:off x="8092440" y="5493715"/>
            <a:ext cx="1097280" cy="77724"/>
          </a:xfrm>
          <a:prstGeom prst="roundRect">
            <a:avLst>
              <a:gd name="adj" fmla="val 49412"/>
            </a:avLst>
          </a:prstGeom>
          <a:solidFill>
            <a:srgbClr val="DCDDD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31536" y="5643677"/>
            <a:ext cx="6750101" cy="57607"/>
          </a:xfrm>
          <a:prstGeom prst="rect">
            <a:avLst/>
          </a:prstGeom>
          <a:solidFill>
            <a:srgbClr val="9EA0A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49824" y="5701284"/>
            <a:ext cx="6731813" cy="41148"/>
          </a:xfrm>
          <a:prstGeom prst="roundRect">
            <a:avLst>
              <a:gd name="adj" fmla="val 48889"/>
            </a:avLst>
          </a:prstGeom>
          <a:solidFill>
            <a:srgbClr val="4A4A4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5977" y="1225296"/>
            <a:ext cx="41148" cy="231343"/>
          </a:xfrm>
          <a:prstGeom prst="roundRect">
            <a:avLst>
              <a:gd name="adj" fmla="val 44444"/>
            </a:avLst>
          </a:prstGeom>
          <a:solidFill>
            <a:srgbClr val="8A8A8A"/>
          </a:solidFill>
          <a:ln/>
        </p:spPr>
      </p:sp>
      <p:sp>
        <p:nvSpPr>
          <p:cNvPr id="3" name="Shape 1"/>
          <p:cNvSpPr/>
          <p:nvPr/>
        </p:nvSpPr>
        <p:spPr>
          <a:xfrm>
            <a:off x="1185977" y="1652321"/>
            <a:ext cx="41148" cy="432511"/>
          </a:xfrm>
          <a:prstGeom prst="roundRect">
            <a:avLst>
              <a:gd name="adj" fmla="val 44444"/>
            </a:avLst>
          </a:prstGeom>
          <a:solidFill>
            <a:srgbClr val="8A8A8A"/>
          </a:solidFill>
          <a:ln/>
        </p:spPr>
      </p:sp>
      <p:sp>
        <p:nvSpPr>
          <p:cNvPr id="4" name="Shape 2"/>
          <p:cNvSpPr/>
          <p:nvPr/>
        </p:nvSpPr>
        <p:spPr>
          <a:xfrm>
            <a:off x="1185977" y="2200961"/>
            <a:ext cx="41148" cy="426110"/>
          </a:xfrm>
          <a:prstGeom prst="roundRect">
            <a:avLst>
              <a:gd name="adj" fmla="val 44444"/>
            </a:avLst>
          </a:prstGeom>
          <a:solidFill>
            <a:srgbClr val="8A8A8A"/>
          </a:solidFill>
          <a:ln/>
        </p:spPr>
      </p:sp>
      <p:sp>
        <p:nvSpPr>
          <p:cNvPr id="5" name="Shape 3"/>
          <p:cNvSpPr/>
          <p:nvPr/>
        </p:nvSpPr>
        <p:spPr>
          <a:xfrm>
            <a:off x="1206094" y="420624"/>
            <a:ext cx="2948940" cy="5973775"/>
          </a:xfrm>
          <a:prstGeom prst="roundRect">
            <a:avLst>
              <a:gd name="adj" fmla="val 13643"/>
            </a:avLst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1218895" y="433426"/>
            <a:ext cx="2923337" cy="5948172"/>
          </a:xfrm>
          <a:prstGeom prst="roundRect">
            <a:avLst>
              <a:gd name="adj" fmla="val 13450"/>
            </a:avLst>
          </a:prstGeom>
          <a:solidFill>
            <a:srgbClr val="D8D8D8"/>
          </a:solidFill>
          <a:ln/>
        </p:spPr>
      </p:sp>
      <p:sp>
        <p:nvSpPr>
          <p:cNvPr id="7" name="Shape 5"/>
          <p:cNvSpPr/>
          <p:nvPr/>
        </p:nvSpPr>
        <p:spPr>
          <a:xfrm>
            <a:off x="1255471" y="470002"/>
            <a:ext cx="2850185" cy="5875020"/>
          </a:xfrm>
          <a:prstGeom prst="roundRect">
            <a:avLst>
              <a:gd name="adj" fmla="val 12512"/>
            </a:avLst>
          </a:prstGeom>
          <a:solidFill>
            <a:srgbClr val="141414"/>
          </a:solidFill>
          <a:ln/>
        </p:spPr>
      </p:sp>
      <p:sp>
        <p:nvSpPr>
          <p:cNvPr id="8" name="Shape 6"/>
          <p:cNvSpPr/>
          <p:nvPr/>
        </p:nvSpPr>
        <p:spPr>
          <a:xfrm>
            <a:off x="1279246" y="493776"/>
            <a:ext cx="2802636" cy="5827471"/>
          </a:xfrm>
          <a:prstGeom prst="roundRect">
            <a:avLst>
              <a:gd name="adj" fmla="val 12072"/>
            </a:avLst>
          </a:prstGeom>
          <a:solidFill>
            <a:srgbClr val="A8A8A8"/>
          </a:solidFill>
          <a:ln/>
        </p:spPr>
      </p:sp>
      <p:sp>
        <p:nvSpPr>
          <p:cNvPr id="9" name="Shape 7"/>
          <p:cNvSpPr/>
          <p:nvPr/>
        </p:nvSpPr>
        <p:spPr>
          <a:xfrm>
            <a:off x="1319479" y="534010"/>
            <a:ext cx="2722169" cy="5747004"/>
          </a:xfrm>
          <a:prstGeom prst="roundRect">
            <a:avLst>
              <a:gd name="adj" fmla="val 11085"/>
            </a:avLst>
          </a:prstGeom>
          <a:solidFill>
            <a:srgbClr val="202020"/>
          </a:solidFill>
          <a:ln/>
        </p:spPr>
      </p:sp>
      <p:sp>
        <p:nvSpPr>
          <p:cNvPr id="10" name="Shape 8"/>
          <p:cNvSpPr/>
          <p:nvPr/>
        </p:nvSpPr>
        <p:spPr>
          <a:xfrm>
            <a:off x="1348740" y="538582"/>
            <a:ext cx="2670962" cy="5735117"/>
          </a:xfrm>
          <a:prstGeom prst="roundRect">
            <a:avLst>
              <a:gd name="adj" fmla="val 8117"/>
            </a:avLst>
          </a:prstGeom>
          <a:solidFill>
            <a:srgbClr val="DADFE1"/>
          </a:solidFill>
          <a:ln/>
        </p:spPr>
      </p:sp>
      <p:sp>
        <p:nvSpPr>
          <p:cNvPr id="510" name="Box 510"/>
          <p:cNvSpPr/>
          <p:nvPr/>
        </p:nvSpPr>
        <p:spPr>
          <a:xfrm>
            <a:off x="1463040" y="868680"/>
            <a:ext cx="2423160" cy="1188720"/>
          </a:xfrm>
          <a:prstGeom prst="roundRect">
            <a:avLst/>
          </a:prstGeom>
          <a:solidFill>
            <a:srgbClr val="00A79D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l"/>
            <a:r>
              <a:rPr lang="ru-RU" sz="2200" b="1">
                <a:solidFill>
                  <a:srgbClr val="FFFFFF"/>
                </a:solidFill>
                <a:latin typeface="Roboto Condensed"/>
              </a:rPr>
              <a:t>Материалы</a:t>
            </a:r>
          </a:p>
          <a:p>
            <a:pPr algn="l"/>
            <a:r>
              <a:rPr lang="ru-RU" sz="1500" b="0">
                <a:solidFill>
                  <a:srgbClr val="FFFFFF"/>
                </a:solidFill>
                <a:latin typeface="PT Sans"/>
              </a:rPr>
              <a:t>архив zip</a:t>
            </a:r>
          </a:p>
        </p:txBody>
      </p:sp>
      <p:sp>
        <p:nvSpPr>
          <p:cNvPr id="511" name="Box 511"/>
          <p:cNvSpPr/>
          <p:nvPr/>
        </p:nvSpPr>
        <p:spPr>
          <a:xfrm>
            <a:off x="1463040" y="4434840"/>
            <a:ext cx="2423160" cy="50292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txBody>
          <a:bodyPr wrap="square" lIns="137160" rIns="137160" tIns="45720" bIns="45720" anchor="ctr">
            <a:noAutofit/>
          </a:bodyPr>
          <a:lstStyle/>
          <a:p>
            <a:pPr algn="l"/>
            <a:r>
              <a:rPr lang="ru-RU" sz="1500" b="1">
                <a:solidFill>
                  <a:srgbClr val="1E2A32"/>
                </a:solidFill>
                <a:latin typeface="Roboto Condensed"/>
              </a:rPr>
              <a:t>Тексты занятия</a:t>
            </a:r>
          </a:p>
        </p:txBody>
      </p:sp>
      <p:sp>
        <p:nvSpPr>
          <p:cNvPr id="512" name="Box 512"/>
          <p:cNvSpPr/>
          <p:nvPr/>
        </p:nvSpPr>
        <p:spPr>
          <a:xfrm>
            <a:off x="1463040" y="5038344"/>
            <a:ext cx="2423160" cy="50292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txBody>
          <a:bodyPr wrap="square" lIns="137160" rIns="137160" tIns="45720" bIns="45720" anchor="ctr">
            <a:noAutofit/>
          </a:bodyPr>
          <a:lstStyle/>
          <a:p>
            <a:pPr algn="l"/>
            <a:r>
              <a:rPr lang="ru-RU" sz="1500" b="1">
                <a:solidFill>
                  <a:srgbClr val="1E2A32"/>
                </a:solidFill>
                <a:latin typeface="Roboto Condensed"/>
              </a:rPr>
              <a:t>Преамбулы</a:t>
            </a:r>
          </a:p>
        </p:txBody>
      </p:sp>
      <p:sp>
        <p:nvSpPr>
          <p:cNvPr id="513" name="Box 513"/>
          <p:cNvSpPr/>
          <p:nvPr/>
        </p:nvSpPr>
        <p:spPr>
          <a:xfrm>
            <a:off x="1463040" y="5641848"/>
            <a:ext cx="2423160" cy="50292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txBody>
          <a:bodyPr wrap="square" lIns="137160" rIns="137160" tIns="45720" bIns="45720" anchor="ctr">
            <a:noAutofit/>
          </a:bodyPr>
          <a:lstStyle/>
          <a:p>
            <a:pPr algn="l"/>
            <a:r>
              <a:rPr lang="ru-RU" sz="1500" b="1">
                <a:solidFill>
                  <a:srgbClr val="1E2A32"/>
                </a:solidFill>
                <a:latin typeface="Roboto Condensed"/>
              </a:rPr>
              <a:t>Инструкция по Docker</a:t>
            </a:r>
          </a:p>
        </p:txBody>
      </p:sp>
      <p:sp>
        <p:nvSpPr>
          <p:cNvPr id="11" name="Shape 9"/>
          <p:cNvSpPr/>
          <p:nvPr/>
        </p:nvSpPr>
        <p:spPr>
          <a:xfrm rot="16200000">
            <a:off x="5788152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12" name="Shape 10"/>
          <p:cNvSpPr/>
          <p:nvPr/>
        </p:nvSpPr>
        <p:spPr>
          <a:xfrm rot="16200000">
            <a:off x="5903445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13" name="Text 11"/>
          <p:cNvSpPr/>
          <p:nvPr/>
        </p:nvSpPr>
        <p:spPr>
          <a:xfrm>
            <a:off x="6120079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0079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75350" y="1687068"/>
            <a:ext cx="414497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A79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Материалы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75350" y="2118665"/>
            <a:ext cx="5362956" cy="12006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Всё — в одном </a:t>
            </a:r>
            <a:r>
              <a:rPr lang="en-US" sz="4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архиве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775350" y="3429000"/>
            <a:ext cx="53629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Тексты и преамбулы — для общего понимания.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75350" y="4343400"/>
            <a:ext cx="53629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Полный разбор «как внутри» — на занятии 2.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9681" y="2337206"/>
            <a:ext cx="1905610" cy="190561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804818" y="2751430"/>
            <a:ext cx="1077163" cy="1077163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23" name="Shape 21"/>
          <p:cNvSpPr/>
          <p:nvPr/>
        </p:nvSpPr>
        <p:spPr>
          <a:xfrm>
            <a:off x="4188288" y="3031492"/>
            <a:ext cx="316686" cy="425479"/>
          </a:xfrm>
          <a:custGeom>
            <a:avLst/>
            <a:gdLst/>
            <a:ahLst/>
            <a:cxnLst/>
            <a:rect l="l" t="t" r="r" b="b"/>
            <a:pathLst>
              <a:path w="316686" h="425479">
                <a:moveTo>
                  <a:pt x="91522" y="0"/>
                </a:moveTo>
                <a:lnTo>
                  <a:pt x="225164" y="0"/>
                </a:lnTo>
                <a:lnTo>
                  <a:pt x="225164" y="231035"/>
                </a:lnTo>
                <a:lnTo>
                  <a:pt x="316686" y="231035"/>
                </a:lnTo>
                <a:lnTo>
                  <a:pt x="158343" y="425479"/>
                </a:lnTo>
                <a:lnTo>
                  <a:pt x="0" y="231035"/>
                </a:lnTo>
                <a:lnTo>
                  <a:pt x="91522" y="23103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096730" y="3371876"/>
            <a:ext cx="43087" cy="1766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52370" y="3371876"/>
            <a:ext cx="43087" cy="1766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096730" y="3505444"/>
            <a:ext cx="498727" cy="43087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0" y="1828800"/>
            <a:ext cx="85313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2857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Занятие 1 из 2 · спасибо!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Вопросы?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 rot="10800000">
            <a:off x="5464454" y="3813956"/>
            <a:ext cx="1281989" cy="585228"/>
          </a:xfrm>
          <a:custGeom>
            <a:avLst/>
            <a:gdLst/>
            <a:ahLst/>
            <a:cxnLst/>
            <a:rect l="l" t="t" r="r" b="b"/>
            <a:pathLst>
              <a:path w="1281989" h="585228">
                <a:moveTo>
                  <a:pt x="1281989" y="585228"/>
                </a:moveTo>
                <a:lnTo>
                  <a:pt x="1090203" y="585228"/>
                </a:lnTo>
                <a:cubicBezTo>
                  <a:pt x="1061743" y="362607"/>
                  <a:pt x="871496" y="190550"/>
                  <a:pt x="640994" y="190550"/>
                </a:cubicBezTo>
                <a:cubicBezTo>
                  <a:pt x="410493" y="190550"/>
                  <a:pt x="220117" y="362666"/>
                  <a:pt x="191786" y="585228"/>
                </a:cubicBezTo>
                <a:lnTo>
                  <a:pt x="0" y="585228"/>
                </a:lnTo>
                <a:cubicBezTo>
                  <a:pt x="29229" y="257208"/>
                  <a:pt x="305113" y="0"/>
                  <a:pt x="640994" y="0"/>
                </a:cubicBezTo>
                <a:cubicBezTo>
                  <a:pt x="976875" y="0"/>
                  <a:pt x="1252759" y="257208"/>
                  <a:pt x="1281989" y="5852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5804566" y="3813956"/>
            <a:ext cx="601766" cy="248839"/>
          </a:xfrm>
          <a:custGeom>
            <a:avLst/>
            <a:gdLst/>
            <a:ahLst/>
            <a:cxnLst/>
            <a:rect l="l" t="t" r="r" b="b"/>
            <a:pathLst>
              <a:path w="601766" h="248839">
                <a:moveTo>
                  <a:pt x="601766" y="248839"/>
                </a:moveTo>
                <a:lnTo>
                  <a:pt x="0" y="248839"/>
                </a:lnTo>
                <a:cubicBezTo>
                  <a:pt x="27019" y="107100"/>
                  <a:pt x="151464" y="0"/>
                  <a:pt x="300883" y="0"/>
                </a:cubicBezTo>
                <a:cubicBezTo>
                  <a:pt x="450301" y="0"/>
                  <a:pt x="574746" y="107100"/>
                  <a:pt x="601766" y="248839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3816706"/>
            <a:ext cx="227594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54419" y="3816706"/>
            <a:ext cx="227594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10" name="Prompt"/>
          <p:cNvSpPr/>
          <p:nvPr/>
        </p:nvSpPr>
        <p:spPr>
          <a:xfrm>
            <a:off x="1371600" y="457200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2857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Какое правило вы бы задали первым?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836676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4" name="Shape 2"/>
          <p:cNvSpPr/>
          <p:nvPr/>
        </p:nvSpPr>
        <p:spPr>
          <a:xfrm rot="16200000">
            <a:off x="951969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5" name="Text 3"/>
          <p:cNvSpPr/>
          <p:nvPr/>
        </p:nvSpPr>
        <p:spPr>
          <a:xfrm>
            <a:off x="1168603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68603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A79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Живое демо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Сценарии </a:t>
            </a:r>
            <a:r>
              <a:rPr lang="en-US" sz="4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A⁠–⁠D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Главное — правила и проверка: шаги B–D.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234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897880" y="1234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Найти извещение → карточка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37760" y="2194560"/>
            <a:ext cx="6355080" cy="0"/>
          </a:xfrm>
          <a:prstGeom prst="line">
            <a:avLst/>
          </a:prstGeom>
          <a:noFill/>
          <a:ln w="9525">
            <a:solidFill>
              <a:srgbClr val="D5DADC"/>
            </a:solidFill>
            <a:prstDash val="solid"/>
          </a:ln>
        </p:spPr>
      </p:sp>
      <p:sp>
        <p:nvSpPr>
          <p:cNvPr id="280" name="Box 280"/>
          <p:cNvSpPr/>
          <p:nvPr/>
        </p:nvSpPr>
        <p:spPr>
          <a:xfrm>
            <a:off x="4754880" y="2377440"/>
            <a:ext cx="6720840" cy="3429000"/>
          </a:xfrm>
          <a:prstGeom prst="rect">
            <a:avLst/>
          </a:prstGeom>
          <a:solidFill>
            <a:srgbClr val="E6F6F5"/>
          </a:solidFill>
          <a:ln>
            <a:noFill/>
          </a:ln>
        </p:spPr>
        <p:txBody>
          <a:bodyPr wrap="square" lIns="109728" rIns="109728" tIns="45720" bIns="45720" anchor="t">
            <a:noAutofit/>
          </a:bodyPr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937760" y="26517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897880" y="26517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Правила: открыть или создать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20640" y="3566160"/>
            <a:ext cx="5989320" cy="0"/>
          </a:xfrm>
          <a:prstGeom prst="line">
            <a:avLst/>
          </a:prstGeom>
          <a:noFill/>
          <a:ln w="9525">
            <a:solidFill>
              <a:srgbClr val="D5DA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7490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897880" y="37490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Запустить проверку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120640" y="4663440"/>
            <a:ext cx="5989320" cy="0"/>
          </a:xfrm>
          <a:prstGeom prst="line">
            <a:avLst/>
          </a:prstGeom>
          <a:noFill/>
          <a:ln w="9525">
            <a:solidFill>
              <a:srgbClr val="D5DA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4846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897880" y="4846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Разобрать срабатывание</a:t>
            </a:r>
            <a:endParaRPr lang="en-US" sz="2000" dirty="0"/>
          </a:p>
        </p:txBody>
      </p:sp>
      <p:sp>
        <p:nvSpPr>
          <p:cNvPr id="281" name="Box 281"/>
          <p:cNvSpPr/>
          <p:nvPr/>
        </p:nvSpPr>
        <p:spPr>
          <a:xfrm>
            <a:off x="9326880" y="2148840"/>
            <a:ext cx="1920240" cy="420624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txBody>
          <a:bodyPr wrap="square" lIns="109728" rIns="109728" tIns="45720" bIns="45720" anchor="ctr">
            <a:noAutofit/>
          </a:bodyPr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Roboto Condensed"/>
              </a:rPr>
              <a:t>центр демо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836676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951969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4" name="Text 2"/>
          <p:cNvSpPr/>
          <p:nvPr/>
        </p:nvSpPr>
        <p:spPr>
          <a:xfrm>
            <a:off x="1168603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68603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Границы </a:t>
            </a:r>
            <a:r>
              <a:rPr lang="en-US" sz="38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помощника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0" y="2514600"/>
            <a:ext cx="12192000" cy="548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880360"/>
            <a:ext cx="73152" cy="502920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880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26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Что делает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161288" y="3813048"/>
            <a:ext cx="118872" cy="118872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6576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Сейчас работает с 44-ФЗ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161288" y="4453128"/>
            <a:ext cx="118872" cy="118872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42976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Читает данные, которые загрузили вы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161288" y="5093208"/>
            <a:ext cx="118872" cy="118872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4937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Подсвечивает возможные проблемы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0" y="2880360"/>
            <a:ext cx="73152" cy="50292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880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26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Чего не делает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647688" y="3813048"/>
            <a:ext cx="118872" cy="118872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36576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Другие законы — пока нет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647688" y="4453128"/>
            <a:ext cx="118872" cy="118872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42976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Сам данные в MultiReestr не грузит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647688" y="5093208"/>
            <a:ext cx="118872" cy="118872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4937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 заменяет эксперта: решаете вы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836676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951969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4" name="Text 2"/>
          <p:cNvSpPr/>
          <p:nvPr/>
        </p:nvSpPr>
        <p:spPr>
          <a:xfrm>
            <a:off x="1168603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68603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A79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Пример: поиск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Итерационный подход · </a:t>
            </a:r>
            <a:r>
              <a:rPr lang="en-US" sz="38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улучшения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325880" y="3364992"/>
            <a:ext cx="7989570" cy="0"/>
          </a:xfrm>
          <a:prstGeom prst="line">
            <a:avLst/>
          </a:prstGeom>
          <a:noFill/>
          <a:ln w="25400">
            <a:solidFill>
              <a:srgbClr val="00A79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953512"/>
            <a:ext cx="822960" cy="822960"/>
          </a:xfrm>
          <a:prstGeom prst="ellipse">
            <a:avLst/>
          </a:prstGeom>
          <a:solidFill>
            <a:srgbClr val="00A79D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53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2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План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Описали поиск — в плане всё нормально.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77590" y="2953512"/>
            <a:ext cx="822960" cy="822960"/>
          </a:xfrm>
          <a:prstGeom prst="ellipse">
            <a:avLst/>
          </a:prstGeom>
          <a:solidFill>
            <a:srgbClr val="00A79D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7590" y="2953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77590" y="4023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2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Экран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77590" y="44805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Открыли — а на экране неудобно.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0780" y="2953512"/>
            <a:ext cx="822960" cy="822960"/>
          </a:xfrm>
          <a:prstGeom prst="ellipse">
            <a:avLst/>
          </a:prstGeom>
          <a:solidFill>
            <a:srgbClr val="00A79D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0780" y="2953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40780" y="4023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2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Правки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40780" y="44805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Поправили то, что мешает.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03970" y="2953512"/>
            <a:ext cx="822960" cy="822960"/>
          </a:xfrm>
          <a:prstGeom prst="ellipse">
            <a:avLst/>
          </a:prstGeom>
          <a:solidFill>
            <a:srgbClr val="F44336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03970" y="2953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903970" y="4023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2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Снова на экран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03970" y="44805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Проверили ещё раз. Повторяем, пока не станет удобно.</a:t>
            </a:r>
            <a:endParaRPr lang="en-US" sz="1200" dirty="0"/>
          </a:p>
        </p:txBody>
      </p:sp>
      <p:sp>
        <p:nvSpPr>
          <p:cNvPr id="420" name="Box 420"/>
          <p:cNvSpPr/>
          <p:nvPr/>
        </p:nvSpPr>
        <p:spPr>
          <a:xfrm>
            <a:off x="914400" y="5669280"/>
            <a:ext cx="10332720" cy="68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wrap="square" lIns="228600" rIns="228600" tIns="45720" bIns="45720" anchor="ctr">
            <a:noAutofit/>
          </a:bodyPr>
          <a:lstStyle/>
          <a:p>
            <a:pPr algn="l"/>
            <a:r>
              <a:rPr lang="ru-RU" sz="1800" b="1">
                <a:solidFill>
                  <a:srgbClr val="00A79D"/>
                </a:solidFill>
                <a:latin typeface="Roboto Condensed"/>
              </a:rPr>
              <a:t>Главное  </a:t>
            </a:r>
            <a:r>
              <a:rPr lang="ru-RU" sz="1800" b="0">
                <a:solidFill>
                  <a:srgbClr val="1E2A32"/>
                </a:solidFill>
                <a:latin typeface="PT Sans"/>
              </a:rPr>
              <a:t>Пока глазами не увидишь — не поймёшь, что удобно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rot="16200000">
            <a:off x="1200607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4" name="Shape 2"/>
          <p:cNvSpPr/>
          <p:nvPr/>
        </p:nvSpPr>
        <p:spPr>
          <a:xfrm rot="16200000">
            <a:off x="1315901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5" name="Text 3"/>
          <p:cNvSpPr/>
          <p:nvPr/>
        </p:nvSpPr>
        <p:spPr>
          <a:xfrm>
            <a:off x="1532534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32534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4595" y="15544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Docker </a:t>
            </a:r>
            <a:r>
              <a:rPr lang="en-US" sz="44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дома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0" y="3291840"/>
            <a:ext cx="5617159" cy="3566160"/>
          </a:xfrm>
          <a:prstGeom prst="rect">
            <a:avLst/>
          </a:prstGeom>
          <a:solidFill>
            <a:srgbClr val="00A79D"/>
          </a:solidFill>
          <a:ln/>
        </p:spPr>
      </p:sp>
      <p:sp>
        <p:nvSpPr>
          <p:cNvPr id="530" name="Box 530"/>
          <p:cNvSpPr/>
          <p:nvPr/>
        </p:nvSpPr>
        <p:spPr>
          <a:xfrm>
            <a:off x="6309360" y="1417320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3400" b="1">
                <a:solidFill>
                  <a:srgbClr val="00A79D"/>
                </a:solidFill>
                <a:latin typeface="Roboto Condensed"/>
              </a:rPr>
              <a:t>01</a:t>
            </a:r>
          </a:p>
        </p:txBody>
      </p:sp>
      <p:sp>
        <p:nvSpPr>
          <p:cNvPr id="540" name="Box 540"/>
          <p:cNvSpPr/>
          <p:nvPr/>
        </p:nvSpPr>
        <p:spPr>
          <a:xfrm>
            <a:off x="7269480" y="1417320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2600" b="1">
                <a:solidFill>
                  <a:srgbClr val="1E2A32"/>
                </a:solidFill>
                <a:latin typeface="Roboto Condensed"/>
              </a:rPr>
              <a:t>Скачать образы</a:t>
            </a:r>
          </a:p>
        </p:txBody>
      </p:sp>
      <p:sp>
        <p:nvSpPr>
          <p:cNvPr id="550" name="Box 550"/>
          <p:cNvSpPr/>
          <p:nvPr/>
        </p:nvSpPr>
        <p:spPr>
          <a:xfrm>
            <a:off x="6309360" y="2240280"/>
            <a:ext cx="5029200" cy="18288"/>
          </a:xfrm>
          <a:prstGeom prst="rect">
            <a:avLst/>
          </a:prstGeom>
          <a:solidFill>
            <a:srgbClr val="D5DADC"/>
          </a:solidFill>
          <a:ln>
            <a:noFill/>
          </a:ln>
        </p:spPr>
        <p:txBody>
          <a:bodyPr wrap="square" lIns="109728" rIns="109728" tIns="45720" bIns="45720" anchor="t">
            <a:noAutofit/>
          </a:bodyPr>
          <a:lstStyle/>
          <a:p>
            <a:endParaRPr lang="ru-RU"/>
          </a:p>
        </p:txBody>
      </p:sp>
      <p:sp>
        <p:nvSpPr>
          <p:cNvPr id="531" name="Box 531"/>
          <p:cNvSpPr/>
          <p:nvPr/>
        </p:nvSpPr>
        <p:spPr>
          <a:xfrm>
            <a:off x="6309360" y="2404872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3400" b="1">
                <a:solidFill>
                  <a:srgbClr val="00A79D"/>
                </a:solidFill>
                <a:latin typeface="Roboto Condensed"/>
              </a:rPr>
              <a:t>02</a:t>
            </a:r>
          </a:p>
        </p:txBody>
      </p:sp>
      <p:sp>
        <p:nvSpPr>
          <p:cNvPr id="541" name="Box 541"/>
          <p:cNvSpPr/>
          <p:nvPr/>
        </p:nvSpPr>
        <p:spPr>
          <a:xfrm>
            <a:off x="7269480" y="2404872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2600" b="1">
                <a:solidFill>
                  <a:srgbClr val="1E2A32"/>
                </a:solidFill>
                <a:latin typeface="Roboto Condensed"/>
              </a:rPr>
              <a:t>Загрузить</a:t>
            </a:r>
          </a:p>
        </p:txBody>
      </p:sp>
      <p:sp>
        <p:nvSpPr>
          <p:cNvPr id="551" name="Box 551"/>
          <p:cNvSpPr/>
          <p:nvPr/>
        </p:nvSpPr>
        <p:spPr>
          <a:xfrm>
            <a:off x="6309360" y="3227832"/>
            <a:ext cx="5029200" cy="18288"/>
          </a:xfrm>
          <a:prstGeom prst="rect">
            <a:avLst/>
          </a:prstGeom>
          <a:solidFill>
            <a:srgbClr val="D5DADC"/>
          </a:solidFill>
          <a:ln>
            <a:noFill/>
          </a:ln>
        </p:spPr>
        <p:txBody>
          <a:bodyPr wrap="square" lIns="109728" rIns="109728" tIns="45720" bIns="45720" anchor="t">
            <a:noAutofit/>
          </a:bodyPr>
          <a:lstStyle/>
          <a:p>
            <a:endParaRPr lang="ru-RU"/>
          </a:p>
        </p:txBody>
      </p:sp>
      <p:sp>
        <p:nvSpPr>
          <p:cNvPr id="532" name="Box 532"/>
          <p:cNvSpPr/>
          <p:nvPr/>
        </p:nvSpPr>
        <p:spPr>
          <a:xfrm>
            <a:off x="6309360" y="3392424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3400" b="1">
                <a:solidFill>
                  <a:srgbClr val="00A79D"/>
                </a:solidFill>
                <a:latin typeface="Roboto Condensed"/>
              </a:rPr>
              <a:t>03</a:t>
            </a:r>
          </a:p>
        </p:txBody>
      </p:sp>
      <p:sp>
        <p:nvSpPr>
          <p:cNvPr id="542" name="Box 542"/>
          <p:cNvSpPr/>
          <p:nvPr/>
        </p:nvSpPr>
        <p:spPr>
          <a:xfrm>
            <a:off x="7269480" y="3392424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2600" b="1">
                <a:solidFill>
                  <a:srgbClr val="1E2A32"/>
                </a:solidFill>
                <a:latin typeface="Roboto Condensed"/>
              </a:rPr>
              <a:t>Запустить</a:t>
            </a:r>
          </a:p>
        </p:txBody>
      </p:sp>
      <p:sp>
        <p:nvSpPr>
          <p:cNvPr id="552" name="Box 552"/>
          <p:cNvSpPr/>
          <p:nvPr/>
        </p:nvSpPr>
        <p:spPr>
          <a:xfrm>
            <a:off x="6309360" y="4215384"/>
            <a:ext cx="5029200" cy="18288"/>
          </a:xfrm>
          <a:prstGeom prst="rect">
            <a:avLst/>
          </a:prstGeom>
          <a:solidFill>
            <a:srgbClr val="D5DADC"/>
          </a:solidFill>
          <a:ln>
            <a:noFill/>
          </a:ln>
        </p:spPr>
        <p:txBody>
          <a:bodyPr wrap="square" lIns="109728" rIns="109728" tIns="45720" bIns="45720" anchor="t">
            <a:noAutofit/>
          </a:bodyPr>
          <a:lstStyle/>
          <a:p>
            <a:endParaRPr lang="ru-RU"/>
          </a:p>
        </p:txBody>
      </p:sp>
      <p:sp>
        <p:nvSpPr>
          <p:cNvPr id="533" name="Box 533"/>
          <p:cNvSpPr/>
          <p:nvPr/>
        </p:nvSpPr>
        <p:spPr>
          <a:xfrm>
            <a:off x="6309360" y="4379976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3400" b="1">
                <a:solidFill>
                  <a:srgbClr val="00A79D"/>
                </a:solidFill>
                <a:latin typeface="Roboto Condensed"/>
              </a:rPr>
              <a:t>04</a:t>
            </a:r>
          </a:p>
        </p:txBody>
      </p:sp>
      <p:sp>
        <p:nvSpPr>
          <p:cNvPr id="543" name="Box 543"/>
          <p:cNvSpPr/>
          <p:nvPr/>
        </p:nvSpPr>
        <p:spPr>
          <a:xfrm>
            <a:off x="7269480" y="4379976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2600" b="1">
                <a:solidFill>
                  <a:srgbClr val="1E2A32"/>
                </a:solidFill>
                <a:latin typeface="Roboto Condensed"/>
              </a:rPr>
              <a:t>Открыть браузер</a:t>
            </a:r>
          </a:p>
        </p:txBody>
      </p:sp>
      <p:sp>
        <p:nvSpPr>
          <p:cNvPr id="553" name="Box 553"/>
          <p:cNvSpPr/>
          <p:nvPr/>
        </p:nvSpPr>
        <p:spPr>
          <a:xfrm>
            <a:off x="6309360" y="5202936"/>
            <a:ext cx="5029200" cy="18288"/>
          </a:xfrm>
          <a:prstGeom prst="rect">
            <a:avLst/>
          </a:prstGeom>
          <a:solidFill>
            <a:srgbClr val="D5DADC"/>
          </a:solidFill>
          <a:ln>
            <a:noFill/>
          </a:ln>
        </p:spPr>
        <p:txBody>
          <a:bodyPr wrap="square" lIns="109728" rIns="109728" tIns="45720" bIns="45720" anchor="t">
            <a:noAutofit/>
          </a:bodyPr>
          <a:lstStyle/>
          <a:p>
            <a:endParaRPr lang="ru-RU"/>
          </a:p>
        </p:txBody>
      </p:sp>
      <p:sp>
        <p:nvSpPr>
          <p:cNvPr id="534" name="Box 534"/>
          <p:cNvSpPr/>
          <p:nvPr/>
        </p:nvSpPr>
        <p:spPr>
          <a:xfrm>
            <a:off x="6309360" y="5367528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3400" b="1">
                <a:solidFill>
                  <a:srgbClr val="00A79D"/>
                </a:solidFill>
                <a:latin typeface="Roboto Condensed"/>
              </a:rPr>
              <a:t>05</a:t>
            </a:r>
          </a:p>
        </p:txBody>
      </p:sp>
      <p:sp>
        <p:nvSpPr>
          <p:cNvPr id="544" name="Box 544"/>
          <p:cNvSpPr/>
          <p:nvPr/>
        </p:nvSpPr>
        <p:spPr>
          <a:xfrm>
            <a:off x="7269480" y="5367528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2600" b="1">
                <a:solidFill>
                  <a:srgbClr val="1E2A32"/>
                </a:solidFill>
                <a:latin typeface="Roboto Condensed"/>
              </a:rPr>
              <a:t>Войти</a:t>
            </a:r>
          </a:p>
        </p:txBody>
      </p:sp>
      <p:sp>
        <p:nvSpPr>
          <p:cNvPr id="520" name="Box 520"/>
          <p:cNvSpPr/>
          <p:nvPr/>
        </p:nvSpPr>
        <p:spPr>
          <a:xfrm>
            <a:off x="822960" y="3566160"/>
            <a:ext cx="438912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45720" bIns="45720" anchor="ctr">
            <a:noAutofit/>
          </a:bodyPr>
          <a:lstStyle/>
          <a:p>
            <a:pPr algn="l"/>
            <a:r>
              <a:rPr lang="ru-RU" sz="1600" b="1">
                <a:solidFill>
                  <a:srgbClr val="FFFFFF"/>
                </a:solidFill>
                <a:latin typeface="Roboto Condensed"/>
              </a:rPr>
              <a:t>Совет</a:t>
            </a:r>
          </a:p>
          <a:p>
            <a:pPr algn="l"/>
            <a:r>
              <a:rPr lang="ru-RU" sz="2800" b="1">
                <a:solidFill>
                  <a:srgbClr val="FFFFFF"/>
                </a:solidFill>
                <a:latin typeface="Roboto Condensed"/>
              </a:rPr>
              <a:t>Поставьте Docker Desktop заранее</a:t>
            </a:r>
          </a:p>
          <a:p>
            <a:pPr algn="l"/>
            <a:r>
              <a:rPr lang="ru-RU" sz="800" b="0">
                <a:solidFill>
                  <a:srgbClr val="FFFFFF"/>
                </a:solidFill>
                <a:latin typeface="PT Sans"/>
              </a:rPr>
              <a:t> </a:t>
            </a:r>
          </a:p>
          <a:p>
            <a:pPr algn="l"/>
            <a:r>
              <a:rPr lang="ru-RU" sz="1700" b="0">
                <a:solidFill>
                  <a:srgbClr val="FFFFFF"/>
                </a:solidFill>
                <a:latin typeface="PT Sans"/>
              </a:rPr>
              <a:t>Подробности — в инструкции в архиве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836676" y="673836"/>
            <a:ext cx="290779" cy="132741"/>
          </a:xfrm>
          <a:custGeom>
            <a:avLst/>
            <a:gdLst/>
            <a:ahLst/>
            <a:cxnLst/>
            <a:rect l="l" t="t" r="r" b="b"/>
            <a:pathLst>
              <a:path w="290779" h="132741">
                <a:moveTo>
                  <a:pt x="290779" y="132741"/>
                </a:moveTo>
                <a:lnTo>
                  <a:pt x="247279" y="132741"/>
                </a:lnTo>
                <a:cubicBezTo>
                  <a:pt x="240823" y="82246"/>
                  <a:pt x="197672" y="43220"/>
                  <a:pt x="145390" y="43220"/>
                </a:cubicBezTo>
                <a:cubicBezTo>
                  <a:pt x="93107" y="43220"/>
                  <a:pt x="49927" y="82259"/>
                  <a:pt x="43501" y="132741"/>
                </a:cubicBezTo>
                <a:lnTo>
                  <a:pt x="0" y="132741"/>
                </a:lnTo>
                <a:cubicBezTo>
                  <a:pt x="6630" y="58340"/>
                  <a:pt x="69205" y="0"/>
                  <a:pt x="145390" y="0"/>
                </a:cubicBezTo>
                <a:cubicBezTo>
                  <a:pt x="221574" y="0"/>
                  <a:pt x="284149" y="58340"/>
                  <a:pt x="290779" y="132741"/>
                </a:cubicBezTo>
                <a:close/>
              </a:path>
            </a:pathLst>
          </a:custGeom>
          <a:solidFill>
            <a:srgbClr val="00A79D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951969" y="711986"/>
            <a:ext cx="136492" cy="56441"/>
          </a:xfrm>
          <a:custGeom>
            <a:avLst/>
            <a:gdLst/>
            <a:ahLst/>
            <a:cxnLst/>
            <a:rect l="l" t="t" r="r" b="b"/>
            <a:pathLst>
              <a:path w="136492" h="56441">
                <a:moveTo>
                  <a:pt x="136492" y="56441"/>
                </a:moveTo>
                <a:lnTo>
                  <a:pt x="0" y="56441"/>
                </a:lnTo>
                <a:cubicBezTo>
                  <a:pt x="6128" y="24292"/>
                  <a:pt x="34355" y="0"/>
                  <a:pt x="68246" y="0"/>
                </a:cubicBezTo>
                <a:cubicBezTo>
                  <a:pt x="102137" y="0"/>
                  <a:pt x="130363" y="24292"/>
                  <a:pt x="136492" y="56441"/>
                </a:cubicBez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4" name="Text 2"/>
          <p:cNvSpPr/>
          <p:nvPr/>
        </p:nvSpPr>
        <p:spPr>
          <a:xfrm>
            <a:off x="1168603" y="519379"/>
            <a:ext cx="1335938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MultiReestr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68603" y="731520"/>
            <a:ext cx="1335938" cy="215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4433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помощник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A79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Сегодня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A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Итоги </a:t>
            </a:r>
            <a:r>
              <a:rPr lang="en-US" sz="4000" b="1" dirty="0">
                <a:solidFill>
                  <a:srgbClr val="00A79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занятия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00" dirty="0">
                <a:solidFill>
                  <a:srgbClr val="55616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Теперь вы знаете, зачем помощник и как с ним работать.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97880" y="1188720"/>
            <a:ext cx="5394960" cy="49377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554480"/>
            <a:ext cx="502920" cy="502920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11" name="Shape 9"/>
          <p:cNvSpPr/>
          <p:nvPr/>
        </p:nvSpPr>
        <p:spPr>
          <a:xfrm>
            <a:off x="6391656" y="1723644"/>
            <a:ext cx="246888" cy="173736"/>
          </a:xfrm>
          <a:custGeom>
            <a:avLst/>
            <a:gdLst/>
            <a:ahLst/>
            <a:cxnLst/>
            <a:rect l="l" t="t" r="r" b="b"/>
            <a:pathLst>
              <a:path w="228600" h="159563">
                <a:moveTo>
                  <a:pt x="0" y="43082"/>
                </a:moveTo>
                <a:lnTo>
                  <a:pt x="70866" y="111694"/>
                </a:lnTo>
                <a:lnTo>
                  <a:pt x="212598" y="0"/>
                </a:lnTo>
                <a:lnTo>
                  <a:pt x="228600" y="19148"/>
                </a:lnTo>
                <a:lnTo>
                  <a:pt x="75438" y="151585"/>
                </a:lnTo>
                <a:lnTo>
                  <a:pt x="0" y="8297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149047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Зачем нужен помощник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2395728"/>
            <a:ext cx="502920" cy="502920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14" name="Shape 12"/>
          <p:cNvSpPr/>
          <p:nvPr/>
        </p:nvSpPr>
        <p:spPr>
          <a:xfrm>
            <a:off x="6391656" y="2564892"/>
            <a:ext cx="246888" cy="173736"/>
          </a:xfrm>
          <a:custGeom>
            <a:avLst/>
            <a:gdLst/>
            <a:ahLst/>
            <a:cxnLst/>
            <a:rect l="l" t="t" r="r" b="b"/>
            <a:pathLst>
              <a:path w="228600" h="159563">
                <a:moveTo>
                  <a:pt x="0" y="43082"/>
                </a:moveTo>
                <a:lnTo>
                  <a:pt x="70866" y="111694"/>
                </a:lnTo>
                <a:lnTo>
                  <a:pt x="212598" y="0"/>
                </a:lnTo>
                <a:lnTo>
                  <a:pt x="228600" y="19148"/>
                </a:lnTo>
                <a:lnTo>
                  <a:pt x="75438" y="151585"/>
                </a:lnTo>
                <a:lnTo>
                  <a:pt x="0" y="8297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2331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Поиск, правила и проверка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0" y="3236976"/>
            <a:ext cx="502920" cy="502920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17" name="Shape 15"/>
          <p:cNvSpPr/>
          <p:nvPr/>
        </p:nvSpPr>
        <p:spPr>
          <a:xfrm>
            <a:off x="6391656" y="3406140"/>
            <a:ext cx="246888" cy="173736"/>
          </a:xfrm>
          <a:custGeom>
            <a:avLst/>
            <a:gdLst/>
            <a:ahLst/>
            <a:cxnLst/>
            <a:rect l="l" t="t" r="r" b="b"/>
            <a:pathLst>
              <a:path w="228600" h="159563">
                <a:moveTo>
                  <a:pt x="0" y="43082"/>
                </a:moveTo>
                <a:lnTo>
                  <a:pt x="70866" y="111694"/>
                </a:lnTo>
                <a:lnTo>
                  <a:pt x="212598" y="0"/>
                </a:lnTo>
                <a:lnTo>
                  <a:pt x="228600" y="19148"/>
                </a:lnTo>
                <a:lnTo>
                  <a:pt x="75438" y="151585"/>
                </a:lnTo>
                <a:lnTo>
                  <a:pt x="0" y="8297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317296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Итерации с агентом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4078224"/>
            <a:ext cx="502920" cy="502920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20" name="Shape 18"/>
          <p:cNvSpPr/>
          <p:nvPr/>
        </p:nvSpPr>
        <p:spPr>
          <a:xfrm>
            <a:off x="6391656" y="4247388"/>
            <a:ext cx="246888" cy="173736"/>
          </a:xfrm>
          <a:custGeom>
            <a:avLst/>
            <a:gdLst/>
            <a:ahLst/>
            <a:cxnLst/>
            <a:rect l="l" t="t" r="r" b="b"/>
            <a:pathLst>
              <a:path w="228600" h="159563">
                <a:moveTo>
                  <a:pt x="0" y="43082"/>
                </a:moveTo>
                <a:lnTo>
                  <a:pt x="70866" y="111694"/>
                </a:lnTo>
                <a:lnTo>
                  <a:pt x="212598" y="0"/>
                </a:lnTo>
                <a:lnTo>
                  <a:pt x="228600" y="19148"/>
                </a:lnTo>
                <a:lnTo>
                  <a:pt x="75438" y="151585"/>
                </a:lnTo>
                <a:lnTo>
                  <a:pt x="0" y="8297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401421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A3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Можете поднять стенд дома</a:t>
            </a:r>
            <a:endParaRPr lang="en-US" sz="1600" dirty="0"/>
          </a:p>
        </p:txBody>
      </p:sp>
      <p:sp>
        <p:nvSpPr>
          <p:cNvPr id="600" name="Box 600"/>
          <p:cNvSpPr/>
          <p:nvPr/>
        </p:nvSpPr>
        <p:spPr>
          <a:xfrm>
            <a:off x="6263640" y="5074920"/>
            <a:ext cx="4663440" cy="27432"/>
          </a:xfrm>
          <a:prstGeom prst="rect">
            <a:avLst/>
          </a:prstGeom>
          <a:solidFill>
            <a:srgbClr val="D5DADC"/>
          </a:solidFill>
          <a:ln>
            <a:noFill/>
          </a:ln>
        </p:spPr>
        <p:txBody>
          <a:bodyPr wrap="square" lIns="109728" rIns="109728" tIns="45720" bIns="45720" anchor="t">
            <a:noAutofit/>
          </a:bodyPr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6263640" y="5349240"/>
            <a:ext cx="502920" cy="502920"/>
          </a:xfrm>
          <a:prstGeom prst="ellipse">
            <a:avLst/>
          </a:prstGeom>
          <a:solidFill>
            <a:srgbClr val="00A79D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40880" y="52852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A79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Занятие 2 — Jmix своими руками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МультиРеестр — учебный курс</dc:title>
  <dc:subject>PptxGenJS Presentation</dc:subject>
  <dc:creator>PptxGenJS</dc:creator>
  <cp:lastModifiedBy>PptxGenJS</cp:lastModifiedBy>
  <cp:revision>1</cp:revision>
  <dcterms:created xsi:type="dcterms:W3CDTF">2026-10-26T09:19:11Z</dcterms:created>
  <dcterms:modified xsi:type="dcterms:W3CDTF">2026-10-26T09:19:11Z</dcterms:modified>
</cp:coreProperties>
</file>